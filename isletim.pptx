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ugba kose" initials="tk" lastIdx="3" clrIdx="0">
    <p:extLst>
      <p:ext uri="{19B8F6BF-5375-455C-9EA6-DF929625EA0E}">
        <p15:presenceInfo xmlns:p15="http://schemas.microsoft.com/office/powerpoint/2012/main" userId="01794d45b7d662f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7" autoAdjust="0"/>
    <p:restoredTop sz="94660"/>
  </p:normalViewPr>
  <p:slideViewPr>
    <p:cSldViewPr snapToGrid="0">
      <p:cViewPr>
        <p:scale>
          <a:sx n="71" d="100"/>
          <a:sy n="71" d="100"/>
        </p:scale>
        <p:origin x="67" y="5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3AA3BF2-3B76-4DA6-80AF-A3339CEF3D07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323EE64-62B0-429F-98B5-CE1874502C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305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A3BF2-3B76-4DA6-80AF-A3339CEF3D07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7323EE64-62B0-429F-98B5-CE1874502C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825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3AA3BF2-3B76-4DA6-80AF-A3339CEF3D07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323EE64-62B0-429F-98B5-CE1874502C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212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A3BF2-3B76-4DA6-80AF-A3339CEF3D07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3EE64-62B0-429F-98B5-CE1874502C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001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A3BF2-3B76-4DA6-80AF-A3339CEF3D07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3EE64-62B0-429F-98B5-CE1874502C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618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A3BF2-3B76-4DA6-80AF-A3339CEF3D07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3EE64-62B0-429F-98B5-CE1874502C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3111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A3BF2-3B76-4DA6-80AF-A3339CEF3D07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3EE64-62B0-429F-98B5-CE1874502C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2271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3AA3BF2-3B76-4DA6-80AF-A3339CEF3D07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323EE64-62B0-429F-98B5-CE1874502C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524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A3BF2-3B76-4DA6-80AF-A3339CEF3D07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3EE64-62B0-429F-98B5-CE1874502C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73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A3BF2-3B76-4DA6-80AF-A3339CEF3D07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3EE64-62B0-429F-98B5-CE1874502C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480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3AA3BF2-3B76-4DA6-80AF-A3339CEF3D07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323EE64-62B0-429F-98B5-CE1874502C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452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3AA3BF2-3B76-4DA6-80AF-A3339CEF3D07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7323EE64-62B0-429F-98B5-CE1874502CA7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69579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ieeexplore.ieee.org/document/8693491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veeam.com/blog/stateful-containers-in-production-is-this-a-thing.html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veeam.com/blog/what-is-disaster-recovery.html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pct90">
          <a:fgClr>
            <a:schemeClr val="accent1">
              <a:lumMod val="10000"/>
              <a:lumOff val="9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7FE6806-7312-13B7-19F6-DB193B0347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2" y="1484966"/>
            <a:ext cx="11029615" cy="1475014"/>
          </a:xfrm>
        </p:spPr>
        <p:txBody>
          <a:bodyPr>
            <a:normAutofit/>
          </a:bodyPr>
          <a:lstStyle/>
          <a:p>
            <a:pPr algn="ctr"/>
            <a:r>
              <a:rPr lang="en-US" sz="3800" dirty="0">
                <a:latin typeface="Cooper Black" panose="0208090404030B020404" pitchFamily="18" charset="0"/>
              </a:rPr>
              <a:t>Sanal </a:t>
            </a:r>
            <a:r>
              <a:rPr lang="en-US" sz="3800" dirty="0" err="1">
                <a:latin typeface="Cooper Black" panose="0208090404030B020404" pitchFamily="18" charset="0"/>
              </a:rPr>
              <a:t>makine</a:t>
            </a:r>
            <a:r>
              <a:rPr lang="en-US" sz="3800" dirty="0">
                <a:latin typeface="Cooper Black" panose="0208090404030B020404" pitchFamily="18" charset="0"/>
              </a:rPr>
              <a:t> </a:t>
            </a:r>
            <a:r>
              <a:rPr lang="en-US" sz="3800" dirty="0" err="1">
                <a:latin typeface="Cooper Black" panose="0208090404030B020404" pitchFamily="18" charset="0"/>
              </a:rPr>
              <a:t>ve</a:t>
            </a:r>
            <a:r>
              <a:rPr lang="en-US" sz="3800" dirty="0">
                <a:latin typeface="Cooper Black" panose="0208090404030B020404" pitchFamily="18" charset="0"/>
              </a:rPr>
              <a:t> </a:t>
            </a:r>
            <a:r>
              <a:rPr lang="en-US" sz="3800" dirty="0" err="1">
                <a:latin typeface="Cooper Black" panose="0208090404030B020404" pitchFamily="18" charset="0"/>
              </a:rPr>
              <a:t>containerlerin</a:t>
            </a:r>
            <a:r>
              <a:rPr lang="en-US" sz="3800" dirty="0">
                <a:latin typeface="Cooper Black" panose="0208090404030B020404" pitchFamily="18" charset="0"/>
              </a:rPr>
              <a:t> </a:t>
            </a:r>
            <a:r>
              <a:rPr lang="en-US" sz="3800" dirty="0" err="1">
                <a:latin typeface="Cooper Black" panose="0208090404030B020404" pitchFamily="18" charset="0"/>
              </a:rPr>
              <a:t>karsilastirilmasi</a:t>
            </a:r>
            <a:endParaRPr lang="en-US" sz="3800" dirty="0">
              <a:latin typeface="Cooper Black" panose="0208090404030B020404" pitchFamily="18" charset="0"/>
            </a:endParaRP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7BBA11F8-7BAE-E696-AE8E-78C65E7440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0" y="4443728"/>
            <a:ext cx="10993546" cy="590321"/>
          </a:xfrm>
        </p:spPr>
        <p:txBody>
          <a:bodyPr>
            <a:normAutofit/>
          </a:bodyPr>
          <a:lstStyle/>
          <a:p>
            <a:r>
              <a:rPr lang="en-US" sz="3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Isletim</a:t>
            </a: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sistemleri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D41A5773-FB83-95C4-C86C-046B223823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159"/>
          <a:stretch>
            <a:fillRect/>
          </a:stretch>
        </p:blipFill>
        <p:spPr>
          <a:xfrm>
            <a:off x="767495" y="3429000"/>
            <a:ext cx="4719038" cy="2780471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</p:spTree>
    <p:extLst>
      <p:ext uri="{BB962C8B-B14F-4D97-AF65-F5344CB8AC3E}">
        <p14:creationId xmlns:p14="http://schemas.microsoft.com/office/powerpoint/2010/main" val="38517008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EE66B44-A644-8599-57BD-A4C2AC32D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SANAL MAKINE </a:t>
            </a:r>
            <a:r>
              <a:rPr lang="en-US" dirty="0" err="1"/>
              <a:t>nedir</a:t>
            </a:r>
            <a:r>
              <a:rPr lang="en-US" dirty="0"/>
              <a:t>?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AF98F64-93AA-B555-72E5-1265B1DEDD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Bahnschrift SemiBold" panose="020B0502040204020203" pitchFamily="34" charset="0"/>
              </a:rPr>
              <a:t>Sanal </a:t>
            </a:r>
            <a:r>
              <a:rPr lang="en-US" sz="2000" dirty="0" err="1">
                <a:latin typeface="Bahnschrift SemiBold" panose="020B0502040204020203" pitchFamily="34" charset="0"/>
              </a:rPr>
              <a:t>makine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veya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kısaca</a:t>
            </a:r>
            <a:r>
              <a:rPr lang="en-US" sz="2000" dirty="0">
                <a:latin typeface="Bahnschrift SemiBold" panose="020B0502040204020203" pitchFamily="34" charset="0"/>
              </a:rPr>
              <a:t> VM, </a:t>
            </a:r>
            <a:r>
              <a:rPr lang="en-US" sz="2000" dirty="0" err="1">
                <a:latin typeface="Bahnschrift SemiBold" panose="020B0502040204020203" pitchFamily="34" charset="0"/>
              </a:rPr>
              <a:t>adından</a:t>
            </a:r>
            <a:r>
              <a:rPr lang="en-US" sz="2000" dirty="0">
                <a:latin typeface="Bahnschrift SemiBold" panose="020B0502040204020203" pitchFamily="34" charset="0"/>
              </a:rPr>
              <a:t> da </a:t>
            </a:r>
            <a:r>
              <a:rPr lang="en-US" sz="2000" dirty="0" err="1">
                <a:latin typeface="Bahnschrift SemiBold" panose="020B0502040204020203" pitchFamily="34" charset="0"/>
              </a:rPr>
              <a:t>anlaşılacağı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gibi</a:t>
            </a:r>
            <a:r>
              <a:rPr lang="en-US" sz="2000" dirty="0">
                <a:latin typeface="Bahnschrift SemiBold" panose="020B0502040204020203" pitchFamily="34" charset="0"/>
              </a:rPr>
              <a:t>, </a:t>
            </a:r>
            <a:r>
              <a:rPr lang="en-US" sz="2000" dirty="0" err="1">
                <a:latin typeface="Bahnschrift SemiBold" panose="020B0502040204020203" pitchFamily="34" charset="0"/>
              </a:rPr>
              <a:t>bir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tür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sanal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bilgisayardır</a:t>
            </a:r>
            <a:r>
              <a:rPr lang="en-US" sz="2000" dirty="0">
                <a:latin typeface="Bahnschrift SemiBold" panose="020B0502040204020203" pitchFamily="34" charset="0"/>
              </a:rPr>
              <a:t>. </a:t>
            </a:r>
            <a:r>
              <a:rPr lang="en-US" sz="2000" dirty="0" err="1">
                <a:latin typeface="Bahnschrift SemiBold" panose="020B0502040204020203" pitchFamily="34" charset="0"/>
              </a:rPr>
              <a:t>Sanallaştırma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yazılımı</a:t>
            </a:r>
            <a:r>
              <a:rPr lang="en-US" sz="2000" dirty="0">
                <a:latin typeface="Bahnschrift SemiBold" panose="020B0502040204020203" pitchFamily="34" charset="0"/>
              </a:rPr>
              <a:t>, </a:t>
            </a:r>
            <a:r>
              <a:rPr lang="en-US" sz="2000" dirty="0" err="1">
                <a:latin typeface="Bahnschrift SemiBold" panose="020B0502040204020203" pitchFamily="34" charset="0"/>
              </a:rPr>
              <a:t>tek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bir</a:t>
            </a:r>
            <a:r>
              <a:rPr lang="en-US" sz="2000" dirty="0">
                <a:latin typeface="Bahnschrift SemiBold" panose="020B0502040204020203" pitchFamily="34" charset="0"/>
              </a:rPr>
              <a:t> "ana </a:t>
            </a:r>
            <a:r>
              <a:rPr lang="en-US" sz="2000" dirty="0" err="1">
                <a:latin typeface="Bahnschrift SemiBold" panose="020B0502040204020203" pitchFamily="34" charset="0"/>
              </a:rPr>
              <a:t>bilgisayar"ın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donanımında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birden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fazla</a:t>
            </a:r>
            <a:r>
              <a:rPr lang="en-US" sz="2000" dirty="0">
                <a:latin typeface="Bahnschrift SemiBold" panose="020B0502040204020203" pitchFamily="34" charset="0"/>
              </a:rPr>
              <a:t> "</a:t>
            </a:r>
            <a:r>
              <a:rPr lang="en-US" sz="2000" dirty="0" err="1">
                <a:latin typeface="Bahnschrift SemiBold" panose="020B0502040204020203" pitchFamily="34" charset="0"/>
              </a:rPr>
              <a:t>konuk</a:t>
            </a:r>
            <a:r>
              <a:rPr lang="en-US" sz="2000" dirty="0">
                <a:latin typeface="Bahnschrift SemiBold" panose="020B0502040204020203" pitchFamily="34" charset="0"/>
              </a:rPr>
              <a:t>" </a:t>
            </a:r>
            <a:r>
              <a:rPr lang="en-US" sz="2000" dirty="0" err="1">
                <a:latin typeface="Bahnschrift SemiBold" panose="020B0502040204020203" pitchFamily="34" charset="0"/>
              </a:rPr>
              <a:t>sanal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makine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çalıştırmasına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olanak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tanır</a:t>
            </a:r>
            <a:r>
              <a:rPr lang="en-US" sz="2000" dirty="0">
                <a:latin typeface="Bahnschrift SemiBold" panose="020B0502040204020203" pitchFamily="34" charset="0"/>
              </a:rPr>
              <a:t>. Her </a:t>
            </a:r>
            <a:r>
              <a:rPr lang="en-US" sz="2000" dirty="0" err="1">
                <a:latin typeface="Bahnschrift SemiBold" panose="020B0502040204020203" pitchFamily="34" charset="0"/>
              </a:rPr>
              <a:t>konuk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kendi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işletim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sistemini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çalıştırır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ve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diğer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konuklardan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bağımsız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olarak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davranır</a:t>
            </a:r>
            <a:r>
              <a:rPr lang="en-US" sz="2000" dirty="0">
                <a:latin typeface="Bahnschrift SemiBold" panose="020B0502040204020203" pitchFamily="34" charset="0"/>
              </a:rPr>
              <a:t>. </a:t>
            </a:r>
            <a:r>
              <a:rPr lang="en-US" sz="2000" dirty="0" err="1">
                <a:latin typeface="Bahnschrift SemiBold" panose="020B0502040204020203" pitchFamily="34" charset="0"/>
              </a:rPr>
              <a:t>Konukların</a:t>
            </a:r>
            <a:r>
              <a:rPr lang="en-US" sz="2000" dirty="0">
                <a:latin typeface="Bahnschrift SemiBold" panose="020B0502040204020203" pitchFamily="34" charset="0"/>
              </a:rPr>
              <a:t> ana </a:t>
            </a:r>
            <a:r>
              <a:rPr lang="en-US" sz="2000" dirty="0" err="1">
                <a:latin typeface="Bahnschrift SemiBold" panose="020B0502040204020203" pitchFamily="34" charset="0"/>
              </a:rPr>
              <a:t>bilgisayardan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farklı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bir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işletim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sistemi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çalıştırması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mümkündür</a:t>
            </a:r>
            <a:r>
              <a:rPr lang="en-US" sz="2000" dirty="0">
                <a:latin typeface="Bahnschrift SemiBold" panose="020B0502040204020203" pitchFamily="34" charset="0"/>
              </a:rPr>
              <a:t>. </a:t>
            </a:r>
            <a:r>
              <a:rPr lang="en-US" sz="2000" dirty="0" err="1">
                <a:latin typeface="Bahnschrift SemiBold" panose="020B0502040204020203" pitchFamily="34" charset="0"/>
              </a:rPr>
              <a:t>Örneğin</a:t>
            </a:r>
            <a:r>
              <a:rPr lang="en-US" sz="2000" dirty="0">
                <a:latin typeface="Bahnschrift SemiBold" panose="020B0502040204020203" pitchFamily="34" charset="0"/>
              </a:rPr>
              <a:t>, </a:t>
            </a:r>
            <a:r>
              <a:rPr lang="en-US" sz="2000" dirty="0" err="1">
                <a:latin typeface="Bahnschrift SemiBold" panose="020B0502040204020203" pitchFamily="34" charset="0"/>
              </a:rPr>
              <a:t>bir</a:t>
            </a:r>
            <a:r>
              <a:rPr lang="en-US" sz="2000" dirty="0">
                <a:latin typeface="Bahnschrift SemiBold" panose="020B0502040204020203" pitchFamily="34" charset="0"/>
              </a:rPr>
              <a:t> macOS ana </a:t>
            </a:r>
            <a:r>
              <a:rPr lang="en-US" sz="2000" dirty="0" err="1">
                <a:latin typeface="Bahnschrift SemiBold" panose="020B0502040204020203" pitchFamily="34" charset="0"/>
              </a:rPr>
              <a:t>bilgisayarında</a:t>
            </a:r>
            <a:r>
              <a:rPr lang="en-US" sz="2000" dirty="0">
                <a:latin typeface="Bahnschrift SemiBold" panose="020B0502040204020203" pitchFamily="34" charset="0"/>
              </a:rPr>
              <a:t> Windows </a:t>
            </a:r>
            <a:r>
              <a:rPr lang="en-US" sz="2000" dirty="0" err="1">
                <a:latin typeface="Bahnschrift SemiBold" panose="020B0502040204020203" pitchFamily="34" charset="0"/>
              </a:rPr>
              <a:t>ve</a:t>
            </a:r>
            <a:r>
              <a:rPr lang="en-US" sz="2000" dirty="0">
                <a:latin typeface="Bahnschrift SemiBold" panose="020B0502040204020203" pitchFamily="34" charset="0"/>
              </a:rPr>
              <a:t>/</a:t>
            </a:r>
            <a:r>
              <a:rPr lang="en-US" sz="2000" dirty="0" err="1">
                <a:latin typeface="Bahnschrift SemiBold" panose="020B0502040204020203" pitchFamily="34" charset="0"/>
              </a:rPr>
              <a:t>veya</a:t>
            </a:r>
            <a:r>
              <a:rPr lang="en-US" sz="2000" dirty="0">
                <a:latin typeface="Bahnschrift SemiBold" panose="020B0502040204020203" pitchFamily="34" charset="0"/>
              </a:rPr>
              <a:t> Linux </a:t>
            </a:r>
            <a:r>
              <a:rPr lang="en-US" sz="2000" dirty="0" err="1">
                <a:latin typeface="Bahnschrift SemiBold" panose="020B0502040204020203" pitchFamily="34" charset="0"/>
              </a:rPr>
              <a:t>sanal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makineleri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çalışabilir</a:t>
            </a:r>
            <a:r>
              <a:rPr lang="en-US" sz="2000" dirty="0">
                <a:latin typeface="Bahnschrift SemiBold" panose="020B0502040204020203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967937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DFCA7BC-7415-B2C1-D62E-A90DC8C02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1" y="411699"/>
            <a:ext cx="11029616" cy="1013800"/>
          </a:xfrm>
        </p:spPr>
        <p:txBody>
          <a:bodyPr/>
          <a:lstStyle/>
          <a:p>
            <a:r>
              <a:rPr lang="en-US" dirty="0"/>
              <a:t>Sanal </a:t>
            </a:r>
            <a:r>
              <a:rPr lang="en-US" dirty="0" err="1"/>
              <a:t>makine</a:t>
            </a:r>
            <a:r>
              <a:rPr lang="en-US" dirty="0"/>
              <a:t> ne </a:t>
            </a:r>
            <a:r>
              <a:rPr lang="en-US" dirty="0" err="1"/>
              <a:t>icin</a:t>
            </a:r>
            <a:r>
              <a:rPr lang="en-US" dirty="0"/>
              <a:t> </a:t>
            </a:r>
            <a:r>
              <a:rPr lang="en-US" dirty="0" err="1"/>
              <a:t>kullanilir</a:t>
            </a:r>
            <a:r>
              <a:rPr lang="en-US" dirty="0"/>
              <a:t>?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5EE307C-6345-3AA0-8DD4-F37A01F4D9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341860"/>
            <a:ext cx="11029615" cy="398363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 </a:t>
            </a:r>
            <a:r>
              <a:rPr lang="en-US" sz="2300" dirty="0" err="1">
                <a:latin typeface="Bahnschrift SemiBold" panose="020B0502040204020203" pitchFamily="34" charset="0"/>
              </a:rPr>
              <a:t>işletim</a:t>
            </a:r>
            <a:r>
              <a:rPr lang="en-US" sz="2300" dirty="0">
                <a:latin typeface="Bahnschrift SemiBold" panose="020B0502040204020203" pitchFamily="34" charset="0"/>
              </a:rPr>
              <a:t> </a:t>
            </a:r>
            <a:r>
              <a:rPr lang="en-US" sz="2300" dirty="0" err="1">
                <a:latin typeface="Bahnschrift SemiBold" panose="020B0502040204020203" pitchFamily="34" charset="0"/>
              </a:rPr>
              <a:t>sistemlerinin</a:t>
            </a:r>
            <a:r>
              <a:rPr lang="en-US" sz="2300" dirty="0">
                <a:latin typeface="Bahnschrift SemiBold" panose="020B0502040204020203" pitchFamily="34" charset="0"/>
              </a:rPr>
              <a:t> </a:t>
            </a:r>
            <a:r>
              <a:rPr lang="en-US" sz="2300" dirty="0" err="1">
                <a:latin typeface="Bahnschrift SemiBold" panose="020B0502040204020203" pitchFamily="34" charset="0"/>
              </a:rPr>
              <a:t>ikinci</a:t>
            </a:r>
            <a:r>
              <a:rPr lang="en-US" sz="2300" dirty="0">
                <a:latin typeface="Bahnschrift SemiBold" panose="020B0502040204020203" pitchFamily="34" charset="0"/>
              </a:rPr>
              <a:t> </a:t>
            </a:r>
            <a:r>
              <a:rPr lang="en-US" sz="2300" dirty="0" err="1">
                <a:latin typeface="Bahnschrift SemiBold" panose="020B0502040204020203" pitchFamily="34" charset="0"/>
              </a:rPr>
              <a:t>bir</a:t>
            </a:r>
            <a:r>
              <a:rPr lang="en-US" sz="2300" dirty="0">
                <a:latin typeface="Bahnschrift SemiBold" panose="020B0502040204020203" pitchFamily="34" charset="0"/>
              </a:rPr>
              <a:t> </a:t>
            </a:r>
            <a:r>
              <a:rPr lang="en-US" sz="2300" dirty="0" err="1">
                <a:latin typeface="Bahnschrift SemiBold" panose="020B0502040204020203" pitchFamily="34" charset="0"/>
              </a:rPr>
              <a:t>işletim</a:t>
            </a:r>
            <a:r>
              <a:rPr lang="en-US" sz="2300" dirty="0">
                <a:latin typeface="Bahnschrift SemiBold" panose="020B0502040204020203" pitchFamily="34" charset="0"/>
              </a:rPr>
              <a:t> </a:t>
            </a:r>
            <a:r>
              <a:rPr lang="en-US" sz="2300" dirty="0" err="1">
                <a:latin typeface="Bahnschrift SemiBold" panose="020B0502040204020203" pitchFamily="34" charset="0"/>
              </a:rPr>
              <a:t>sistemi</a:t>
            </a:r>
            <a:r>
              <a:rPr lang="en-US" sz="2300" dirty="0">
                <a:latin typeface="Bahnschrift SemiBold" panose="020B0502040204020203" pitchFamily="34" charset="0"/>
              </a:rPr>
              <a:t> </a:t>
            </a:r>
            <a:r>
              <a:rPr lang="en-US" sz="2300" dirty="0" err="1">
                <a:latin typeface="Bahnschrift SemiBold" panose="020B0502040204020203" pitchFamily="34" charset="0"/>
              </a:rPr>
              <a:t>olarak</a:t>
            </a:r>
            <a:r>
              <a:rPr lang="en-US" sz="2300" dirty="0">
                <a:latin typeface="Bahnschrift SemiBold" panose="020B0502040204020203" pitchFamily="34" charset="0"/>
              </a:rPr>
              <a:t> </a:t>
            </a:r>
            <a:r>
              <a:rPr lang="en-US" sz="2300" dirty="0" err="1">
                <a:latin typeface="Bahnschrift SemiBold" panose="020B0502040204020203" pitchFamily="34" charset="0"/>
              </a:rPr>
              <a:t>kullanılmasında</a:t>
            </a:r>
            <a:r>
              <a:rPr lang="en-US" sz="2300" dirty="0">
                <a:latin typeface="Bahnschrift SemiBold" panose="020B0502040204020203" pitchFamily="34" charset="0"/>
              </a:rPr>
              <a:t>, </a:t>
            </a:r>
            <a:r>
              <a:rPr lang="en-US" sz="2300" dirty="0" err="1">
                <a:latin typeface="Bahnschrift SemiBold" panose="020B0502040204020203" pitchFamily="34" charset="0"/>
              </a:rPr>
              <a:t>kendi</a:t>
            </a:r>
            <a:r>
              <a:rPr lang="en-US" sz="2300" dirty="0">
                <a:latin typeface="Bahnschrift SemiBold" panose="020B0502040204020203" pitchFamily="34" charset="0"/>
              </a:rPr>
              <a:t> </a:t>
            </a:r>
            <a:r>
              <a:rPr lang="en-US" sz="2300" dirty="0" err="1">
                <a:latin typeface="Bahnschrift SemiBold" panose="020B0502040204020203" pitchFamily="34" charset="0"/>
              </a:rPr>
              <a:t>işletim</a:t>
            </a:r>
            <a:r>
              <a:rPr lang="en-US" sz="2300" dirty="0">
                <a:latin typeface="Bahnschrift SemiBold" panose="020B0502040204020203" pitchFamily="34" charset="0"/>
              </a:rPr>
              <a:t> </a:t>
            </a:r>
            <a:r>
              <a:rPr lang="en-US" sz="2300" dirty="0" err="1">
                <a:latin typeface="Bahnschrift SemiBold" panose="020B0502040204020203" pitchFamily="34" charset="0"/>
              </a:rPr>
              <a:t>sisteminizin</a:t>
            </a:r>
            <a:r>
              <a:rPr lang="en-US" sz="2300" dirty="0">
                <a:latin typeface="Bahnschrift SemiBold" panose="020B0502040204020203" pitchFamily="34" charset="0"/>
              </a:rPr>
              <a:t> </a:t>
            </a:r>
            <a:r>
              <a:rPr lang="en-US" sz="2300" dirty="0" err="1">
                <a:latin typeface="Bahnschrift SemiBold" panose="020B0502040204020203" pitchFamily="34" charset="0"/>
              </a:rPr>
              <a:t>desteklemediği</a:t>
            </a:r>
            <a:r>
              <a:rPr lang="en-US" sz="2300" dirty="0">
                <a:latin typeface="Bahnschrift SemiBold" panose="020B0502040204020203" pitchFamily="34" charset="0"/>
              </a:rPr>
              <a:t> </a:t>
            </a:r>
            <a:r>
              <a:rPr lang="en-US" sz="2300" dirty="0" err="1">
                <a:latin typeface="Bahnschrift SemiBold" panose="020B0502040204020203" pitchFamily="34" charset="0"/>
              </a:rPr>
              <a:t>veya</a:t>
            </a:r>
            <a:r>
              <a:rPr lang="en-US" sz="2300" dirty="0">
                <a:latin typeface="Bahnschrift SemiBold" panose="020B0502040204020203" pitchFamily="34" charset="0"/>
              </a:rPr>
              <a:t> </a:t>
            </a:r>
            <a:r>
              <a:rPr lang="en-US" sz="2300" dirty="0" err="1">
                <a:latin typeface="Bahnschrift SemiBold" panose="020B0502040204020203" pitchFamily="34" charset="0"/>
              </a:rPr>
              <a:t>zarar</a:t>
            </a:r>
            <a:r>
              <a:rPr lang="en-US" sz="2300" dirty="0">
                <a:latin typeface="Bahnschrift SemiBold" panose="020B0502040204020203" pitchFamily="34" charset="0"/>
              </a:rPr>
              <a:t> </a:t>
            </a:r>
            <a:r>
              <a:rPr lang="en-US" sz="2300" dirty="0" err="1">
                <a:latin typeface="Bahnschrift SemiBold" panose="020B0502040204020203" pitchFamily="34" charset="0"/>
              </a:rPr>
              <a:t>görebileceğini</a:t>
            </a:r>
            <a:r>
              <a:rPr lang="en-US" sz="2300" dirty="0">
                <a:latin typeface="Bahnschrift SemiBold" panose="020B0502040204020203" pitchFamily="34" charset="0"/>
              </a:rPr>
              <a:t> </a:t>
            </a:r>
            <a:r>
              <a:rPr lang="en-US" sz="2300" dirty="0" err="1">
                <a:latin typeface="Bahnschrift SemiBold" panose="020B0502040204020203" pitchFamily="34" charset="0"/>
              </a:rPr>
              <a:t>düşündüğünüz</a:t>
            </a:r>
            <a:r>
              <a:rPr lang="en-US" sz="2300" dirty="0">
                <a:latin typeface="Bahnschrift SemiBold" panose="020B0502040204020203" pitchFamily="34" charset="0"/>
              </a:rPr>
              <a:t> </a:t>
            </a:r>
            <a:r>
              <a:rPr lang="en-US" sz="2300" dirty="0" err="1">
                <a:latin typeface="Bahnschrift SemiBold" panose="020B0502040204020203" pitchFamily="34" charset="0"/>
              </a:rPr>
              <a:t>programları</a:t>
            </a:r>
            <a:r>
              <a:rPr lang="en-US" sz="2300" dirty="0">
                <a:latin typeface="Bahnschrift SemiBold" panose="020B0502040204020203" pitchFamily="34" charset="0"/>
              </a:rPr>
              <a:t> </a:t>
            </a:r>
            <a:r>
              <a:rPr lang="en-US" sz="2300" dirty="0" err="1">
                <a:latin typeface="Bahnschrift SemiBold" panose="020B0502040204020203" pitchFamily="34" charset="0"/>
              </a:rPr>
              <a:t>çalıştırmada</a:t>
            </a:r>
            <a:r>
              <a:rPr lang="en-US" sz="2300" dirty="0">
                <a:latin typeface="Bahnschrift SemiBold" panose="020B0502040204020203" pitchFamily="34" charset="0"/>
              </a:rPr>
              <a:t> </a:t>
            </a:r>
            <a:r>
              <a:rPr lang="en-US" sz="2300" dirty="0" err="1">
                <a:latin typeface="Bahnschrift SemiBold" panose="020B0502040204020203" pitchFamily="34" charset="0"/>
              </a:rPr>
              <a:t>ve</a:t>
            </a:r>
            <a:r>
              <a:rPr lang="en-US" sz="2300" dirty="0">
                <a:latin typeface="Bahnschrift SemiBold" panose="020B0502040204020203" pitchFamily="34" charset="0"/>
              </a:rPr>
              <a:t> </a:t>
            </a:r>
            <a:r>
              <a:rPr lang="en-US" sz="2300" dirty="0" err="1">
                <a:latin typeface="Bahnschrift SemiBold" panose="020B0502040204020203" pitchFamily="34" charset="0"/>
              </a:rPr>
              <a:t>bunların</a:t>
            </a:r>
            <a:r>
              <a:rPr lang="en-US" sz="2300" dirty="0">
                <a:latin typeface="Bahnschrift SemiBold" panose="020B0502040204020203" pitchFamily="34" charset="0"/>
              </a:rPr>
              <a:t> </a:t>
            </a:r>
            <a:r>
              <a:rPr lang="en-US" sz="2300" dirty="0" err="1">
                <a:latin typeface="Bahnschrift SemiBold" panose="020B0502040204020203" pitchFamily="34" charset="0"/>
              </a:rPr>
              <a:t>dışında</a:t>
            </a:r>
            <a:r>
              <a:rPr lang="en-US" sz="2300" dirty="0">
                <a:latin typeface="Bahnschrift SemiBold" panose="020B0502040204020203" pitchFamily="34" charset="0"/>
              </a:rPr>
              <a:t> </a:t>
            </a:r>
            <a:r>
              <a:rPr lang="en-US" sz="2300" dirty="0" err="1">
                <a:latin typeface="Bahnschrift SemiBold" panose="020B0502040204020203" pitchFamily="34" charset="0"/>
              </a:rPr>
              <a:t>birçok</a:t>
            </a:r>
            <a:r>
              <a:rPr lang="en-US" sz="2300" dirty="0">
                <a:latin typeface="Bahnschrift SemiBold" panose="020B0502040204020203" pitchFamily="34" charset="0"/>
              </a:rPr>
              <a:t> </a:t>
            </a:r>
            <a:r>
              <a:rPr lang="en-US" sz="2300" dirty="0" err="1">
                <a:latin typeface="Bahnschrift SemiBold" panose="020B0502040204020203" pitchFamily="34" charset="0"/>
              </a:rPr>
              <a:t>alanda</a:t>
            </a:r>
            <a:r>
              <a:rPr lang="en-US" sz="2300" dirty="0">
                <a:latin typeface="Bahnschrift SemiBold" panose="020B0502040204020203" pitchFamily="34" charset="0"/>
              </a:rPr>
              <a:t> </a:t>
            </a:r>
            <a:r>
              <a:rPr lang="en-US" sz="2300" dirty="0" err="1">
                <a:latin typeface="Bahnschrift SemiBold" panose="020B0502040204020203" pitchFamily="34" charset="0"/>
              </a:rPr>
              <a:t>kullanılmaktadır</a:t>
            </a:r>
            <a:r>
              <a:rPr lang="en-US" sz="2300" dirty="0">
                <a:latin typeface="Bahnschrift SemiBold" panose="020B0502040204020203" pitchFamily="34" charset="0"/>
              </a:rPr>
              <a:t>.</a:t>
            </a:r>
          </a:p>
          <a:p>
            <a:endParaRPr lang="en-US" sz="2300" dirty="0">
              <a:latin typeface="Bahnschrift SemiBold" panose="020B0502040204020203" pitchFamily="34" charset="0"/>
            </a:endParaRPr>
          </a:p>
          <a:p>
            <a:r>
              <a:rPr lang="en-US" sz="2100" dirty="0" err="1">
                <a:latin typeface="Bahnschrift SemiBold" panose="020B0502040204020203" pitchFamily="34" charset="0"/>
              </a:rPr>
              <a:t>Farklı</a:t>
            </a:r>
            <a:r>
              <a:rPr lang="en-US" sz="2100" dirty="0">
                <a:latin typeface="Bahnschrift SemiBold" panose="020B0502040204020203" pitchFamily="34" charset="0"/>
              </a:rPr>
              <a:t> </a:t>
            </a:r>
            <a:r>
              <a:rPr lang="en-US" sz="2100" dirty="0" err="1">
                <a:latin typeface="Bahnschrift SemiBold" panose="020B0502040204020203" pitchFamily="34" charset="0"/>
              </a:rPr>
              <a:t>işletim</a:t>
            </a:r>
            <a:r>
              <a:rPr lang="en-US" sz="2100" dirty="0">
                <a:latin typeface="Bahnschrift SemiBold" panose="020B0502040204020203" pitchFamily="34" charset="0"/>
              </a:rPr>
              <a:t> </a:t>
            </a:r>
            <a:r>
              <a:rPr lang="en-US" sz="2100" dirty="0" err="1">
                <a:latin typeface="Bahnschrift SemiBold" panose="020B0502040204020203" pitchFamily="34" charset="0"/>
              </a:rPr>
              <a:t>sistemlerini</a:t>
            </a:r>
            <a:r>
              <a:rPr lang="en-US" sz="2100" dirty="0">
                <a:latin typeface="Bahnschrift SemiBold" panose="020B0502040204020203" pitchFamily="34" charset="0"/>
              </a:rPr>
              <a:t> </a:t>
            </a:r>
            <a:r>
              <a:rPr lang="en-US" sz="2100" dirty="0" err="1">
                <a:latin typeface="Bahnschrift SemiBold" panose="020B0502040204020203" pitchFamily="34" charset="0"/>
              </a:rPr>
              <a:t>çalıştırarak</a:t>
            </a:r>
            <a:r>
              <a:rPr lang="en-US" sz="2100" dirty="0">
                <a:latin typeface="Bahnschrift SemiBold" panose="020B0502040204020203" pitchFamily="34" charset="0"/>
              </a:rPr>
              <a:t> </a:t>
            </a:r>
            <a:r>
              <a:rPr lang="en-US" sz="2100" dirty="0" err="1">
                <a:latin typeface="Bahnschrift SemiBold" panose="020B0502040204020203" pitchFamily="34" charset="0"/>
              </a:rPr>
              <a:t>platformlar</a:t>
            </a:r>
            <a:r>
              <a:rPr lang="en-US" sz="2100" dirty="0">
                <a:latin typeface="Bahnschrift SemiBold" panose="020B0502040204020203" pitchFamily="34" charset="0"/>
              </a:rPr>
              <a:t> </a:t>
            </a:r>
            <a:r>
              <a:rPr lang="en-US" sz="2100" dirty="0" err="1">
                <a:latin typeface="Bahnschrift SemiBold" panose="020B0502040204020203" pitchFamily="34" charset="0"/>
              </a:rPr>
              <a:t>arası</a:t>
            </a:r>
            <a:r>
              <a:rPr lang="en-US" sz="2100" dirty="0">
                <a:latin typeface="Bahnschrift SemiBold" panose="020B0502040204020203" pitchFamily="34" charset="0"/>
              </a:rPr>
              <a:t> </a:t>
            </a:r>
            <a:r>
              <a:rPr lang="en-US" sz="2100" dirty="0" err="1">
                <a:latin typeface="Bahnschrift SemiBold" panose="020B0502040204020203" pitchFamily="34" charset="0"/>
              </a:rPr>
              <a:t>derlemeleri</a:t>
            </a:r>
            <a:r>
              <a:rPr lang="en-US" sz="2100" dirty="0">
                <a:latin typeface="Bahnschrift SemiBold" panose="020B0502040204020203" pitchFamily="34" charset="0"/>
              </a:rPr>
              <a:t> test </a:t>
            </a:r>
            <a:r>
              <a:rPr lang="en-US" sz="2100" dirty="0" err="1">
                <a:latin typeface="Bahnschrift SemiBold" panose="020B0502040204020203" pitchFamily="34" charset="0"/>
              </a:rPr>
              <a:t>etmek</a:t>
            </a:r>
            <a:endParaRPr lang="en-US" sz="2100" dirty="0">
              <a:latin typeface="Bahnschrift SemiBold" panose="020B0502040204020203" pitchFamily="34" charset="0"/>
            </a:endParaRPr>
          </a:p>
          <a:p>
            <a:r>
              <a:rPr lang="en-US" sz="2100" dirty="0" err="1">
                <a:latin typeface="Bahnschrift SemiBold" panose="020B0502040204020203" pitchFamily="34" charset="0"/>
              </a:rPr>
              <a:t>Tasarlanmadığı</a:t>
            </a:r>
            <a:r>
              <a:rPr lang="en-US" sz="2100" dirty="0">
                <a:latin typeface="Bahnschrift SemiBold" panose="020B0502040204020203" pitchFamily="34" charset="0"/>
              </a:rPr>
              <a:t> </a:t>
            </a:r>
            <a:r>
              <a:rPr lang="en-US" sz="2100" dirty="0" err="1">
                <a:latin typeface="Bahnschrift SemiBold" panose="020B0502040204020203" pitchFamily="34" charset="0"/>
              </a:rPr>
              <a:t>bir</a:t>
            </a:r>
            <a:r>
              <a:rPr lang="en-US" sz="2100" dirty="0">
                <a:latin typeface="Bahnschrift SemiBold" panose="020B0502040204020203" pitchFamily="34" charset="0"/>
              </a:rPr>
              <a:t> </a:t>
            </a:r>
            <a:r>
              <a:rPr lang="en-US" sz="2100" dirty="0" err="1">
                <a:latin typeface="Bahnschrift SemiBold" panose="020B0502040204020203" pitchFamily="34" charset="0"/>
              </a:rPr>
              <a:t>cihazda</a:t>
            </a:r>
            <a:r>
              <a:rPr lang="en-US" sz="2100" dirty="0">
                <a:latin typeface="Bahnschrift SemiBold" panose="020B0502040204020203" pitchFamily="34" charset="0"/>
              </a:rPr>
              <a:t>/</a:t>
            </a:r>
            <a:r>
              <a:rPr lang="en-US" sz="2100" dirty="0" err="1">
                <a:latin typeface="Bahnschrift SemiBold" panose="020B0502040204020203" pitchFamily="34" charset="0"/>
              </a:rPr>
              <a:t>platformda</a:t>
            </a:r>
            <a:r>
              <a:rPr lang="en-US" sz="2100" dirty="0">
                <a:latin typeface="Bahnschrift SemiBold" panose="020B0502040204020203" pitchFamily="34" charset="0"/>
              </a:rPr>
              <a:t> </a:t>
            </a:r>
            <a:r>
              <a:rPr lang="en-US" sz="2100" dirty="0" err="1">
                <a:latin typeface="Bahnschrift SemiBold" panose="020B0502040204020203" pitchFamily="34" charset="0"/>
              </a:rPr>
              <a:t>işletim</a:t>
            </a:r>
            <a:r>
              <a:rPr lang="en-US" sz="2100" dirty="0">
                <a:latin typeface="Bahnschrift SemiBold" panose="020B0502040204020203" pitchFamily="34" charset="0"/>
              </a:rPr>
              <a:t> </a:t>
            </a:r>
            <a:r>
              <a:rPr lang="en-US" sz="2100" dirty="0" err="1">
                <a:latin typeface="Bahnschrift SemiBold" panose="020B0502040204020203" pitchFamily="34" charset="0"/>
              </a:rPr>
              <a:t>sistemine</a:t>
            </a:r>
            <a:r>
              <a:rPr lang="en-US" sz="2100" dirty="0">
                <a:latin typeface="Bahnschrift SemiBold" panose="020B0502040204020203" pitchFamily="34" charset="0"/>
              </a:rPr>
              <a:t> </a:t>
            </a:r>
            <a:r>
              <a:rPr lang="en-US" sz="2100" dirty="0" err="1">
                <a:latin typeface="Bahnschrift SemiBold" panose="020B0502040204020203" pitchFamily="34" charset="0"/>
              </a:rPr>
              <a:t>özgü</a:t>
            </a:r>
            <a:r>
              <a:rPr lang="en-US" sz="2100" dirty="0">
                <a:latin typeface="Bahnschrift SemiBold" panose="020B0502040204020203" pitchFamily="34" charset="0"/>
              </a:rPr>
              <a:t> </a:t>
            </a:r>
            <a:r>
              <a:rPr lang="en-US" sz="2100" dirty="0" err="1">
                <a:latin typeface="Bahnschrift SemiBold" panose="020B0502040204020203" pitchFamily="34" charset="0"/>
              </a:rPr>
              <a:t>yazılım</a:t>
            </a:r>
            <a:r>
              <a:rPr lang="en-US" sz="2100" dirty="0">
                <a:latin typeface="Bahnschrift SemiBold" panose="020B0502040204020203" pitchFamily="34" charset="0"/>
              </a:rPr>
              <a:t> </a:t>
            </a:r>
            <a:r>
              <a:rPr lang="en-US" sz="2100" dirty="0" err="1">
                <a:latin typeface="Bahnschrift SemiBold" panose="020B0502040204020203" pitchFamily="34" charset="0"/>
              </a:rPr>
              <a:t>çalıştırmak</a:t>
            </a:r>
            <a:r>
              <a:rPr lang="en-US" sz="2100" dirty="0">
                <a:latin typeface="Bahnschrift SemiBold" panose="020B0502040204020203" pitchFamily="34" charset="0"/>
              </a:rPr>
              <a:t>.</a:t>
            </a:r>
          </a:p>
          <a:p>
            <a:r>
              <a:rPr lang="en-US" sz="2100" dirty="0" err="1">
                <a:latin typeface="Bahnschrift SemiBold" panose="020B0502040204020203" pitchFamily="34" charset="0"/>
              </a:rPr>
              <a:t>Virüs</a:t>
            </a:r>
            <a:r>
              <a:rPr lang="en-US" sz="2100" dirty="0">
                <a:latin typeface="Bahnschrift SemiBold" panose="020B0502040204020203" pitchFamily="34" charset="0"/>
              </a:rPr>
              <a:t> </a:t>
            </a:r>
            <a:r>
              <a:rPr lang="en-US" sz="2100" dirty="0" err="1">
                <a:latin typeface="Bahnschrift SemiBold" panose="020B0502040204020203" pitchFamily="34" charset="0"/>
              </a:rPr>
              <a:t>veya</a:t>
            </a:r>
            <a:r>
              <a:rPr lang="en-US" sz="2100" dirty="0">
                <a:latin typeface="Bahnschrift SemiBold" panose="020B0502040204020203" pitchFamily="34" charset="0"/>
              </a:rPr>
              <a:t> </a:t>
            </a:r>
            <a:r>
              <a:rPr lang="en-US" sz="2100" dirty="0" err="1">
                <a:latin typeface="Bahnschrift SemiBold" panose="020B0502040204020203" pitchFamily="34" charset="0"/>
              </a:rPr>
              <a:t>fidye</a:t>
            </a:r>
            <a:r>
              <a:rPr lang="en-US" sz="2100" dirty="0">
                <a:latin typeface="Bahnschrift SemiBold" panose="020B0502040204020203" pitchFamily="34" charset="0"/>
              </a:rPr>
              <a:t> </a:t>
            </a:r>
            <a:r>
              <a:rPr lang="en-US" sz="2100" dirty="0" err="1">
                <a:latin typeface="Bahnschrift SemiBold" panose="020B0502040204020203" pitchFamily="34" charset="0"/>
              </a:rPr>
              <a:t>yazılımı</a:t>
            </a:r>
            <a:r>
              <a:rPr lang="en-US" sz="2100" dirty="0">
                <a:latin typeface="Bahnschrift SemiBold" panose="020B0502040204020203" pitchFamily="34" charset="0"/>
              </a:rPr>
              <a:t> </a:t>
            </a:r>
            <a:r>
              <a:rPr lang="en-US" sz="2100" dirty="0" err="1">
                <a:latin typeface="Bahnschrift SemiBold" panose="020B0502040204020203" pitchFamily="34" charset="0"/>
              </a:rPr>
              <a:t>bulaşmış</a:t>
            </a:r>
            <a:r>
              <a:rPr lang="en-US" sz="2100" dirty="0">
                <a:latin typeface="Bahnschrift SemiBold" panose="020B0502040204020203" pitchFamily="34" charset="0"/>
              </a:rPr>
              <a:t> </a:t>
            </a:r>
            <a:r>
              <a:rPr lang="en-US" sz="2100" dirty="0" err="1">
                <a:latin typeface="Bahnschrift SemiBold" panose="020B0502040204020203" pitchFamily="34" charset="0"/>
              </a:rPr>
              <a:t>makinelerden</a:t>
            </a:r>
            <a:r>
              <a:rPr lang="en-US" sz="2100" dirty="0">
                <a:latin typeface="Bahnschrift SemiBold" panose="020B0502040204020203" pitchFamily="34" charset="0"/>
              </a:rPr>
              <a:t> </a:t>
            </a:r>
            <a:r>
              <a:rPr lang="en-US" sz="2100" dirty="0" err="1">
                <a:latin typeface="Bahnschrift SemiBold" panose="020B0502040204020203" pitchFamily="34" charset="0"/>
              </a:rPr>
              <a:t>verilere</a:t>
            </a:r>
            <a:r>
              <a:rPr lang="en-US" sz="2100" dirty="0">
                <a:latin typeface="Bahnschrift SemiBold" panose="020B0502040204020203" pitchFamily="34" charset="0"/>
              </a:rPr>
              <a:t> </a:t>
            </a:r>
            <a:r>
              <a:rPr lang="en-US" sz="2100" dirty="0" err="1">
                <a:latin typeface="Bahnschrift SemiBold" panose="020B0502040204020203" pitchFamily="34" charset="0"/>
              </a:rPr>
              <a:t>erişim</a:t>
            </a:r>
            <a:endParaRPr lang="en-US" sz="2100" dirty="0">
              <a:latin typeface="Bahnschrift SemiBold" panose="020B0502040204020203" pitchFamily="34" charset="0"/>
            </a:endParaRPr>
          </a:p>
          <a:p>
            <a:r>
              <a:rPr lang="en-US" sz="2100" dirty="0" err="1">
                <a:latin typeface="Bahnschrift SemiBold" panose="020B0502040204020203" pitchFamily="34" charset="0"/>
              </a:rPr>
              <a:t>Otomatik</a:t>
            </a:r>
            <a:r>
              <a:rPr lang="en-US" sz="2100" dirty="0">
                <a:latin typeface="Bahnschrift SemiBold" panose="020B0502040204020203" pitchFamily="34" charset="0"/>
              </a:rPr>
              <a:t> test/</a:t>
            </a:r>
            <a:r>
              <a:rPr lang="en-US" sz="2100" dirty="0" err="1">
                <a:latin typeface="Bahnschrift SemiBold" panose="020B0502040204020203" pitchFamily="34" charset="0"/>
              </a:rPr>
              <a:t>derleme</a:t>
            </a:r>
            <a:r>
              <a:rPr lang="en-US" sz="2100" dirty="0">
                <a:latin typeface="Bahnschrift SemiBold" panose="020B0502040204020203" pitchFamily="34" charset="0"/>
              </a:rPr>
              <a:t> </a:t>
            </a:r>
            <a:r>
              <a:rPr lang="en-US" sz="2100" dirty="0" err="1">
                <a:latin typeface="Bahnschrift SemiBold" panose="020B0502040204020203" pitchFamily="34" charset="0"/>
              </a:rPr>
              <a:t>için</a:t>
            </a:r>
            <a:r>
              <a:rPr lang="en-US" sz="2100" dirty="0">
                <a:latin typeface="Bahnschrift SemiBold" panose="020B0502040204020203" pitchFamily="34" charset="0"/>
              </a:rPr>
              <a:t> </a:t>
            </a:r>
            <a:r>
              <a:rPr lang="en-US" sz="2100" dirty="0" err="1">
                <a:latin typeface="Bahnschrift SemiBold" panose="020B0502040204020203" pitchFamily="34" charset="0"/>
              </a:rPr>
              <a:t>bir</a:t>
            </a:r>
            <a:r>
              <a:rPr lang="en-US" sz="2100" dirty="0">
                <a:latin typeface="Bahnschrift SemiBold" panose="020B0502040204020203" pitchFamily="34" charset="0"/>
              </a:rPr>
              <a:t> </a:t>
            </a:r>
            <a:r>
              <a:rPr lang="en-US" sz="2100" dirty="0" err="1">
                <a:latin typeface="Bahnschrift SemiBold" panose="020B0502040204020203" pitchFamily="34" charset="0"/>
              </a:rPr>
              <a:t>geliştirme</a:t>
            </a:r>
            <a:r>
              <a:rPr lang="en-US" sz="2100" dirty="0">
                <a:latin typeface="Bahnschrift SemiBold" panose="020B0502040204020203" pitchFamily="34" charset="0"/>
              </a:rPr>
              <a:t> </a:t>
            </a:r>
            <a:r>
              <a:rPr lang="en-US" sz="2100" dirty="0" err="1">
                <a:latin typeface="Bahnschrift SemiBold" panose="020B0502040204020203" pitchFamily="34" charset="0"/>
              </a:rPr>
              <a:t>ortamı</a:t>
            </a:r>
            <a:r>
              <a:rPr lang="en-US" sz="2100" dirty="0">
                <a:latin typeface="Bahnschrift SemiBold" panose="020B0502040204020203" pitchFamily="34" charset="0"/>
              </a:rPr>
              <a:t> </a:t>
            </a:r>
            <a:r>
              <a:rPr lang="en-US" sz="2100" dirty="0" err="1">
                <a:latin typeface="Bahnschrift SemiBold" panose="020B0502040204020203" pitchFamily="34" charset="0"/>
              </a:rPr>
              <a:t>oluşturma</a:t>
            </a:r>
            <a:endParaRPr lang="en-US" sz="2100" dirty="0">
              <a:latin typeface="Bahnschrift SemiBold" panose="020B0502040204020203" pitchFamily="34" charset="0"/>
            </a:endParaRPr>
          </a:p>
          <a:p>
            <a:r>
              <a:rPr lang="en-US" sz="2100" dirty="0" err="1">
                <a:latin typeface="Bahnschrift SemiBold" panose="020B0502040204020203" pitchFamily="34" charset="0"/>
              </a:rPr>
              <a:t>Hızlı</a:t>
            </a:r>
            <a:r>
              <a:rPr lang="en-US" sz="2100" dirty="0">
                <a:latin typeface="Bahnschrift SemiBold" panose="020B0502040204020203" pitchFamily="34" charset="0"/>
              </a:rPr>
              <a:t> </a:t>
            </a:r>
            <a:r>
              <a:rPr lang="en-US" sz="2100" dirty="0" err="1">
                <a:latin typeface="Bahnschrift SemiBold" panose="020B0502040204020203" pitchFamily="34" charset="0"/>
              </a:rPr>
              <a:t>yeniden</a:t>
            </a:r>
            <a:r>
              <a:rPr lang="en-US" sz="2100" dirty="0">
                <a:latin typeface="Bahnschrift SemiBold" panose="020B0502040204020203" pitchFamily="34" charset="0"/>
              </a:rPr>
              <a:t> </a:t>
            </a:r>
            <a:r>
              <a:rPr lang="en-US" sz="2100" dirty="0" err="1">
                <a:latin typeface="Bahnschrift SemiBold" panose="020B0502040204020203" pitchFamily="34" charset="0"/>
              </a:rPr>
              <a:t>dağıtım</a:t>
            </a:r>
            <a:r>
              <a:rPr lang="en-US" sz="2100" dirty="0">
                <a:latin typeface="Bahnschrift SemiBold" panose="020B0502040204020203" pitchFamily="34" charset="0"/>
              </a:rPr>
              <a:t> </a:t>
            </a:r>
            <a:r>
              <a:rPr lang="en-US" sz="2100" dirty="0" err="1">
                <a:latin typeface="Bahnschrift SemiBold" panose="020B0502040204020203" pitchFamily="34" charset="0"/>
              </a:rPr>
              <a:t>için</a:t>
            </a:r>
            <a:r>
              <a:rPr lang="en-US" sz="2100" dirty="0">
                <a:latin typeface="Bahnschrift SemiBold" panose="020B0502040204020203" pitchFamily="34" charset="0"/>
              </a:rPr>
              <a:t> </a:t>
            </a:r>
            <a:r>
              <a:rPr lang="en-US" sz="2100" dirty="0" err="1">
                <a:latin typeface="Bahnschrift SemiBold" panose="020B0502040204020203" pitchFamily="34" charset="0"/>
              </a:rPr>
              <a:t>mevcut</a:t>
            </a:r>
            <a:r>
              <a:rPr lang="en-US" sz="2100" dirty="0">
                <a:latin typeface="Bahnschrift SemiBold" panose="020B0502040204020203" pitchFamily="34" charset="0"/>
              </a:rPr>
              <a:t> </a:t>
            </a:r>
            <a:r>
              <a:rPr lang="en-US" sz="2100" dirty="0" err="1">
                <a:latin typeface="Bahnschrift SemiBold" panose="020B0502040204020203" pitchFamily="34" charset="0"/>
              </a:rPr>
              <a:t>makine</a:t>
            </a:r>
            <a:r>
              <a:rPr lang="en-US" sz="2100" dirty="0">
                <a:latin typeface="Bahnschrift SemiBold" panose="020B0502040204020203" pitchFamily="34" charset="0"/>
              </a:rPr>
              <a:t> </a:t>
            </a:r>
            <a:r>
              <a:rPr lang="en-US" sz="2100" dirty="0" err="1">
                <a:latin typeface="Bahnschrift SemiBold" panose="020B0502040204020203" pitchFamily="34" charset="0"/>
              </a:rPr>
              <a:t>yapılandırmasının</a:t>
            </a:r>
            <a:r>
              <a:rPr lang="en-US" sz="2100" dirty="0">
                <a:latin typeface="Bahnschrift SemiBold" panose="020B0502040204020203" pitchFamily="34" charset="0"/>
              </a:rPr>
              <a:t> </a:t>
            </a:r>
            <a:r>
              <a:rPr lang="en-US" sz="2100" dirty="0" err="1">
                <a:latin typeface="Bahnschrift SemiBold" panose="020B0502040204020203" pitchFamily="34" charset="0"/>
              </a:rPr>
              <a:t>yedeklenmesi</a:t>
            </a:r>
            <a:endParaRPr lang="en-US" sz="2100" dirty="0">
              <a:latin typeface="Bahnschrift SemiBold" panose="020B0502040204020203" pitchFamily="34" charset="0"/>
            </a:endParaRPr>
          </a:p>
          <a:p>
            <a:r>
              <a:rPr lang="en-US" sz="2100" dirty="0" err="1">
                <a:latin typeface="Bahnschrift SemiBold" panose="020B0502040204020203" pitchFamily="34" charset="0"/>
              </a:rPr>
              <a:t>Uygulamaları</a:t>
            </a:r>
            <a:r>
              <a:rPr lang="en-US" sz="2100" dirty="0">
                <a:latin typeface="Bahnschrift SemiBold" panose="020B0502040204020203" pitchFamily="34" charset="0"/>
              </a:rPr>
              <a:t> </a:t>
            </a:r>
            <a:r>
              <a:rPr lang="en-US" sz="2100" dirty="0" err="1">
                <a:latin typeface="Bahnschrift SemiBold" panose="020B0502040204020203" pitchFamily="34" charset="0"/>
              </a:rPr>
              <a:t>buluta</a:t>
            </a:r>
            <a:r>
              <a:rPr lang="en-US" sz="2100" dirty="0">
                <a:latin typeface="Bahnschrift SemiBold" panose="020B0502040204020203" pitchFamily="34" charset="0"/>
              </a:rPr>
              <a:t> </a:t>
            </a:r>
            <a:r>
              <a:rPr lang="en-US" sz="2100" dirty="0" err="1">
                <a:latin typeface="Bahnschrift SemiBold" panose="020B0502040204020203" pitchFamily="34" charset="0"/>
              </a:rPr>
              <a:t>dağıtmak</a:t>
            </a:r>
            <a:endParaRPr lang="en-US" sz="2100" dirty="0">
              <a:latin typeface="Bahnschrift SemiBold" panose="020B0502040204020203" pitchFamily="34" charset="0"/>
            </a:endParaRPr>
          </a:p>
          <a:p>
            <a:r>
              <a:rPr lang="en-US" sz="2100" dirty="0">
                <a:latin typeface="Bahnschrift SemiBold" panose="020B0502040204020203" pitchFamily="34" charset="0"/>
              </a:rPr>
              <a:t>Güçlü </a:t>
            </a:r>
            <a:r>
              <a:rPr lang="en-US" sz="2100" dirty="0" err="1">
                <a:latin typeface="Bahnschrift SemiBold" panose="020B0502040204020203" pitchFamily="34" charset="0"/>
              </a:rPr>
              <a:t>bir</a:t>
            </a:r>
            <a:r>
              <a:rPr lang="en-US" sz="2100" dirty="0">
                <a:latin typeface="Bahnschrift SemiBold" panose="020B0502040204020203" pitchFamily="34" charset="0"/>
              </a:rPr>
              <a:t> web </a:t>
            </a:r>
            <a:r>
              <a:rPr lang="en-US" sz="2100" dirty="0" err="1">
                <a:latin typeface="Bahnschrift SemiBold" panose="020B0502040204020203" pitchFamily="34" charset="0"/>
              </a:rPr>
              <a:t>sunucusunu</a:t>
            </a:r>
            <a:r>
              <a:rPr lang="en-US" sz="2100" dirty="0">
                <a:latin typeface="Bahnschrift SemiBold" panose="020B0502040204020203" pitchFamily="34" charset="0"/>
              </a:rPr>
              <a:t>, </a:t>
            </a:r>
            <a:r>
              <a:rPr lang="en-US" sz="2100" dirty="0" err="1">
                <a:latin typeface="Bahnschrift SemiBold" panose="020B0502040204020203" pitchFamily="34" charset="0"/>
              </a:rPr>
              <a:t>bir</a:t>
            </a:r>
            <a:r>
              <a:rPr lang="en-US" sz="2100" dirty="0">
                <a:latin typeface="Bahnschrift SemiBold" panose="020B0502040204020203" pitchFamily="34" charset="0"/>
              </a:rPr>
              <a:t> hosting </a:t>
            </a:r>
            <a:r>
              <a:rPr lang="en-US" sz="2100" dirty="0" err="1">
                <a:latin typeface="Bahnschrift SemiBold" panose="020B0502040204020203" pitchFamily="34" charset="0"/>
              </a:rPr>
              <a:t>sağlayıcısının</a:t>
            </a:r>
            <a:r>
              <a:rPr lang="en-US" sz="2100" dirty="0">
                <a:latin typeface="Bahnschrift SemiBold" panose="020B0502040204020203" pitchFamily="34" charset="0"/>
              </a:rPr>
              <a:t> </a:t>
            </a:r>
            <a:r>
              <a:rPr lang="en-US" sz="2100" dirty="0" err="1">
                <a:latin typeface="Bahnschrift SemiBold" panose="020B0502040204020203" pitchFamily="34" charset="0"/>
              </a:rPr>
              <a:t>yeniden</a:t>
            </a:r>
            <a:r>
              <a:rPr lang="en-US" sz="2100" dirty="0">
                <a:latin typeface="Bahnschrift SemiBold" panose="020B0502040204020203" pitchFamily="34" charset="0"/>
              </a:rPr>
              <a:t> </a:t>
            </a:r>
            <a:r>
              <a:rPr lang="en-US" sz="2100" dirty="0" err="1">
                <a:latin typeface="Bahnschrift SemiBold" panose="020B0502040204020203" pitchFamily="34" charset="0"/>
              </a:rPr>
              <a:t>satması</a:t>
            </a:r>
            <a:r>
              <a:rPr lang="en-US" sz="2100" dirty="0">
                <a:latin typeface="Bahnschrift SemiBold" panose="020B0502040204020203" pitchFamily="34" charset="0"/>
              </a:rPr>
              <a:t> </a:t>
            </a:r>
            <a:r>
              <a:rPr lang="en-US" sz="2100" dirty="0" err="1">
                <a:latin typeface="Bahnschrift SemiBold" panose="020B0502040204020203" pitchFamily="34" charset="0"/>
              </a:rPr>
              <a:t>için</a:t>
            </a:r>
            <a:r>
              <a:rPr lang="en-US" sz="2100" dirty="0">
                <a:latin typeface="Bahnschrift SemiBold" panose="020B0502040204020203" pitchFamily="34" charset="0"/>
              </a:rPr>
              <a:t> </a:t>
            </a:r>
            <a:r>
              <a:rPr lang="en-US" sz="2100" dirty="0" err="1">
                <a:latin typeface="Bahnschrift SemiBold" panose="020B0502040204020203" pitchFamily="34" charset="0"/>
              </a:rPr>
              <a:t>birkaç</a:t>
            </a:r>
            <a:r>
              <a:rPr lang="en-US" sz="2100" dirty="0">
                <a:latin typeface="Bahnschrift SemiBold" panose="020B0502040204020203" pitchFamily="34" charset="0"/>
              </a:rPr>
              <a:t> </a:t>
            </a:r>
            <a:r>
              <a:rPr lang="en-US" sz="2100" dirty="0" err="1">
                <a:latin typeface="Bahnschrift SemiBold" panose="020B0502040204020203" pitchFamily="34" charset="0"/>
              </a:rPr>
              <a:t>sanal</a:t>
            </a:r>
            <a:r>
              <a:rPr lang="en-US" sz="2100" dirty="0">
                <a:latin typeface="Bahnschrift SemiBold" panose="020B0502040204020203" pitchFamily="34" charset="0"/>
              </a:rPr>
              <a:t> </a:t>
            </a:r>
            <a:r>
              <a:rPr lang="en-US" sz="2100" dirty="0" err="1">
                <a:latin typeface="Bahnschrift SemiBold" panose="020B0502040204020203" pitchFamily="34" charset="0"/>
              </a:rPr>
              <a:t>sunucuya</a:t>
            </a:r>
            <a:r>
              <a:rPr lang="en-US" sz="2100" dirty="0">
                <a:latin typeface="Bahnschrift SemiBold" panose="020B0502040204020203" pitchFamily="34" charset="0"/>
              </a:rPr>
              <a:t> </a:t>
            </a:r>
            <a:r>
              <a:rPr lang="en-US" sz="2100" dirty="0" err="1">
                <a:latin typeface="Bahnschrift SemiBold" panose="020B0502040204020203" pitchFamily="34" charset="0"/>
              </a:rPr>
              <a:t>bölmek</a:t>
            </a:r>
            <a:r>
              <a:rPr lang="en-US" sz="2100" dirty="0">
                <a:latin typeface="Bahnschrift SemiBold" panose="020B0502040204020203" pitchFamily="34" charset="0"/>
              </a:rPr>
              <a:t>.</a:t>
            </a:r>
          </a:p>
          <a:p>
            <a:endParaRPr lang="en-US" sz="2000" dirty="0">
              <a:latin typeface="Bahnschrift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4388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16F9C8C-2856-4530-8096-2C7F1F5EB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874279"/>
            <a:ext cx="11029616" cy="1013800"/>
          </a:xfrm>
        </p:spPr>
        <p:txBody>
          <a:bodyPr/>
          <a:lstStyle/>
          <a:p>
            <a:r>
              <a:rPr lang="en-US" dirty="0" err="1"/>
              <a:t>Konteynerler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sanal</a:t>
            </a:r>
            <a:r>
              <a:rPr lang="en-US" dirty="0"/>
              <a:t> </a:t>
            </a:r>
            <a:r>
              <a:rPr lang="en-US" dirty="0" err="1"/>
              <a:t>makineler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9FDB63A-CAFB-BB9B-A9CE-B7DCFB254D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Konteynerler</a:t>
            </a:r>
            <a:r>
              <a:rPr lang="en-US" dirty="0"/>
              <a:t>, </a:t>
            </a:r>
            <a:r>
              <a:rPr lang="en-US" dirty="0" err="1"/>
              <a:t>sanal</a:t>
            </a:r>
            <a:r>
              <a:rPr lang="en-US" dirty="0"/>
              <a:t> </a:t>
            </a:r>
            <a:r>
              <a:rPr lang="en-US" dirty="0" err="1"/>
              <a:t>makinelerle</a:t>
            </a:r>
            <a:r>
              <a:rPr lang="en-US" dirty="0"/>
              <a:t> </a:t>
            </a:r>
            <a:r>
              <a:rPr lang="en-US" dirty="0" err="1"/>
              <a:t>birçok</a:t>
            </a:r>
            <a:r>
              <a:rPr lang="en-US" dirty="0"/>
              <a:t> </a:t>
            </a:r>
            <a:r>
              <a:rPr lang="en-US" dirty="0" err="1"/>
              <a:t>benzerliği</a:t>
            </a:r>
            <a:r>
              <a:rPr lang="en-US" dirty="0"/>
              <a:t> </a:t>
            </a:r>
            <a:r>
              <a:rPr lang="en-US" dirty="0" err="1"/>
              <a:t>paylaşan</a:t>
            </a:r>
            <a:r>
              <a:rPr lang="en-US" dirty="0"/>
              <a:t> </a:t>
            </a:r>
            <a:r>
              <a:rPr lang="en-US" dirty="0" err="1"/>
              <a:t>ancak</a:t>
            </a:r>
            <a:r>
              <a:rPr lang="en-US" dirty="0"/>
              <a:t> </a:t>
            </a:r>
            <a:r>
              <a:rPr lang="en-US" dirty="0" err="1"/>
              <a:t>biraz</a:t>
            </a:r>
            <a:r>
              <a:rPr lang="en-US" dirty="0"/>
              <a:t> </a:t>
            </a:r>
            <a:r>
              <a:rPr lang="en-US" dirty="0" err="1"/>
              <a:t>farklı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amaca</a:t>
            </a:r>
            <a:r>
              <a:rPr lang="en-US" dirty="0"/>
              <a:t> </a:t>
            </a:r>
            <a:r>
              <a:rPr lang="en-US" dirty="0" err="1"/>
              <a:t>hizmet</a:t>
            </a:r>
            <a:r>
              <a:rPr lang="en-US" dirty="0"/>
              <a:t> </a:t>
            </a:r>
            <a:r>
              <a:rPr lang="en-US" dirty="0" err="1"/>
              <a:t>eden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sanallaştırma</a:t>
            </a:r>
            <a:r>
              <a:rPr lang="en-US" dirty="0"/>
              <a:t> </a:t>
            </a:r>
            <a:r>
              <a:rPr lang="en-US" dirty="0" err="1"/>
              <a:t>teknolojisi</a:t>
            </a:r>
            <a:r>
              <a:rPr lang="en-US" dirty="0"/>
              <a:t> </a:t>
            </a:r>
            <a:r>
              <a:rPr lang="en-US" dirty="0" err="1"/>
              <a:t>biçimidir</a:t>
            </a:r>
            <a:r>
              <a:rPr lang="en-US" dirty="0"/>
              <a:t>. Sanal </a:t>
            </a:r>
            <a:r>
              <a:rPr lang="en-US" dirty="0" err="1"/>
              <a:t>makineler</a:t>
            </a:r>
            <a:r>
              <a:rPr lang="en-US" dirty="0"/>
              <a:t> </a:t>
            </a:r>
            <a:r>
              <a:rPr lang="en-US" dirty="0" err="1"/>
              <a:t>işletim</a:t>
            </a:r>
            <a:r>
              <a:rPr lang="en-US" dirty="0"/>
              <a:t> </a:t>
            </a:r>
            <a:r>
              <a:rPr lang="en-US" dirty="0" err="1"/>
              <a:t>sistemi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donanım</a:t>
            </a:r>
            <a:r>
              <a:rPr lang="en-US" dirty="0"/>
              <a:t> </a:t>
            </a:r>
            <a:r>
              <a:rPr lang="en-US" dirty="0" err="1"/>
              <a:t>katmanı</a:t>
            </a:r>
            <a:r>
              <a:rPr lang="en-US" dirty="0"/>
              <a:t> da </a:t>
            </a:r>
            <a:r>
              <a:rPr lang="en-US" dirty="0" err="1"/>
              <a:t>dahil</a:t>
            </a:r>
            <a:r>
              <a:rPr lang="en-US" dirty="0"/>
              <a:t> </a:t>
            </a:r>
            <a:r>
              <a:rPr lang="en-US" dirty="0" err="1"/>
              <a:t>olmak</a:t>
            </a:r>
            <a:r>
              <a:rPr lang="en-US" dirty="0"/>
              <a:t> </a:t>
            </a:r>
            <a:r>
              <a:rPr lang="en-US" dirty="0" err="1"/>
              <a:t>üzere</a:t>
            </a:r>
            <a:r>
              <a:rPr lang="en-US" dirty="0"/>
              <a:t>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makineyi</a:t>
            </a:r>
            <a:r>
              <a:rPr lang="en-US" dirty="0"/>
              <a:t> </a:t>
            </a:r>
            <a:r>
              <a:rPr lang="en-US" dirty="0" err="1"/>
              <a:t>simüle</a:t>
            </a:r>
            <a:r>
              <a:rPr lang="en-US" dirty="0"/>
              <a:t> </a:t>
            </a:r>
            <a:r>
              <a:rPr lang="en-US" dirty="0" err="1"/>
              <a:t>ederken</a:t>
            </a:r>
            <a:r>
              <a:rPr lang="en-US" dirty="0"/>
              <a:t>, </a:t>
            </a:r>
            <a:r>
              <a:rPr lang="en-US" dirty="0" err="1"/>
              <a:t>konteynerler</a:t>
            </a:r>
            <a:r>
              <a:rPr lang="en-US" dirty="0"/>
              <a:t> </a:t>
            </a:r>
            <a:r>
              <a:rPr lang="en-US" dirty="0" err="1"/>
              <a:t>yalnızca</a:t>
            </a:r>
            <a:r>
              <a:rPr lang="en-US" dirty="0"/>
              <a:t> </a:t>
            </a:r>
            <a:r>
              <a:rPr lang="en-US" dirty="0" err="1"/>
              <a:t>işletim</a:t>
            </a:r>
            <a:r>
              <a:rPr lang="en-US" dirty="0"/>
              <a:t> </a:t>
            </a:r>
            <a:r>
              <a:rPr lang="en-US" dirty="0" err="1"/>
              <a:t>sisteminin</a:t>
            </a:r>
            <a:r>
              <a:rPr lang="en-US" dirty="0"/>
              <a:t> </a:t>
            </a:r>
            <a:r>
              <a:rPr lang="en-US" dirty="0" err="1"/>
              <a:t>üzerinde</a:t>
            </a:r>
            <a:r>
              <a:rPr lang="en-US" dirty="0"/>
              <a:t> </a:t>
            </a:r>
            <a:r>
              <a:rPr lang="en-US" dirty="0" err="1"/>
              <a:t>çalışan</a:t>
            </a:r>
            <a:r>
              <a:rPr lang="en-US" dirty="0"/>
              <a:t> </a:t>
            </a:r>
            <a:r>
              <a:rPr lang="en-US" dirty="0" err="1"/>
              <a:t>yazılım</a:t>
            </a:r>
            <a:r>
              <a:rPr lang="en-US" dirty="0"/>
              <a:t> </a:t>
            </a:r>
            <a:r>
              <a:rPr lang="en-US" dirty="0" err="1"/>
              <a:t>katmanlarını</a:t>
            </a:r>
            <a:r>
              <a:rPr lang="en-US" dirty="0"/>
              <a:t> </a:t>
            </a:r>
            <a:r>
              <a:rPr lang="en-US" dirty="0" err="1"/>
              <a:t>sanallaştırır</a:t>
            </a:r>
            <a:r>
              <a:rPr lang="en-US" dirty="0"/>
              <a:t>. IEEE, </a:t>
            </a:r>
            <a:r>
              <a:rPr lang="en-US" dirty="0" err="1"/>
              <a:t>konteynerleri</a:t>
            </a:r>
            <a:r>
              <a:rPr lang="en-US" dirty="0"/>
              <a:t> </a:t>
            </a:r>
            <a:r>
              <a:rPr lang="en-US" dirty="0" err="1"/>
              <a:t>sanal</a:t>
            </a:r>
            <a:r>
              <a:rPr lang="en-US" dirty="0"/>
              <a:t> </a:t>
            </a:r>
            <a:r>
              <a:rPr lang="en-US" dirty="0" err="1"/>
              <a:t>makinelere</a:t>
            </a:r>
            <a:r>
              <a:rPr lang="en-US" dirty="0"/>
              <a:t> </a:t>
            </a:r>
            <a:r>
              <a:rPr lang="en-US" u="sng" dirty="0" err="1">
                <a:hlinkClick r:id="rId2"/>
              </a:rPr>
              <a:t>hafif</a:t>
            </a:r>
            <a:r>
              <a:rPr lang="en-US" u="sng" dirty="0">
                <a:hlinkClick r:id="rId2"/>
              </a:rPr>
              <a:t> </a:t>
            </a:r>
            <a:r>
              <a:rPr lang="en-US" u="sng" dirty="0" err="1">
                <a:hlinkClick r:id="rId2"/>
              </a:rPr>
              <a:t>bir</a:t>
            </a:r>
            <a:r>
              <a:rPr lang="en-US" u="sng" dirty="0">
                <a:hlinkClick r:id="rId2"/>
              </a:rPr>
              <a:t> </a:t>
            </a:r>
            <a:r>
              <a:rPr lang="en-US" u="sng" dirty="0" err="1">
                <a:hlinkClick r:id="rId2"/>
              </a:rPr>
              <a:t>alternatif</a:t>
            </a:r>
            <a:r>
              <a:rPr lang="en-US" u="sng" dirty="0">
                <a:hlinkClick r:id="rId2"/>
              </a:rPr>
              <a:t> </a:t>
            </a:r>
            <a:r>
              <a:rPr lang="en-US" u="sng" dirty="0" err="1">
                <a:hlinkClick r:id="rId2"/>
              </a:rPr>
              <a:t>olarak</a:t>
            </a:r>
            <a:r>
              <a:rPr lang="en-US" u="sng" dirty="0">
                <a:hlinkClick r:id="rId2"/>
              </a:rPr>
              <a:t> </a:t>
            </a:r>
            <a:r>
              <a:rPr lang="en-US" u="sng" dirty="0" err="1">
                <a:hlinkClick r:id="rId2"/>
              </a:rPr>
              <a:t>tanımlar</a:t>
            </a:r>
            <a:r>
              <a:rPr lang="en-US" u="sng" dirty="0">
                <a:hlinkClick r:id="rId2"/>
              </a:rPr>
              <a:t>.</a:t>
            </a:r>
            <a:endParaRPr lang="en-US" u="sng" dirty="0"/>
          </a:p>
          <a:p>
            <a:r>
              <a:rPr lang="en-US" dirty="0" err="1"/>
              <a:t>Popüler</a:t>
            </a:r>
            <a:r>
              <a:rPr lang="en-US" dirty="0"/>
              <a:t> </a:t>
            </a:r>
            <a:r>
              <a:rPr lang="en-US" dirty="0" err="1"/>
              <a:t>konteyner</a:t>
            </a:r>
            <a:r>
              <a:rPr lang="en-US" dirty="0"/>
              <a:t> </a:t>
            </a:r>
            <a:r>
              <a:rPr lang="en-US" dirty="0" err="1"/>
              <a:t>yönetim</a:t>
            </a:r>
            <a:r>
              <a:rPr lang="en-US" dirty="0"/>
              <a:t> </a:t>
            </a:r>
            <a:r>
              <a:rPr lang="en-US" dirty="0" err="1"/>
              <a:t>yazılımları</a:t>
            </a:r>
            <a:r>
              <a:rPr lang="en-US" dirty="0"/>
              <a:t> </a:t>
            </a:r>
            <a:r>
              <a:rPr lang="en-US" dirty="0" err="1"/>
              <a:t>arasında</a:t>
            </a:r>
            <a:r>
              <a:rPr lang="en-US" dirty="0"/>
              <a:t> Docker, Google Kubernetes Engine, LXC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Portainer</a:t>
            </a:r>
            <a:r>
              <a:rPr lang="en-US" dirty="0"/>
              <a:t> </a:t>
            </a:r>
            <a:r>
              <a:rPr lang="en-US" dirty="0" err="1"/>
              <a:t>yer</a:t>
            </a:r>
            <a:r>
              <a:rPr lang="en-US" dirty="0"/>
              <a:t> </a:t>
            </a:r>
            <a:r>
              <a:rPr lang="en-US" dirty="0" err="1"/>
              <a:t>almaktadır</a:t>
            </a:r>
            <a:r>
              <a:rPr lang="en-US" dirty="0"/>
              <a:t>. </a:t>
            </a:r>
            <a:r>
              <a:rPr lang="en-US" dirty="0" err="1"/>
              <a:t>Konteynerler</a:t>
            </a:r>
            <a:r>
              <a:rPr lang="en-US" dirty="0"/>
              <a:t>, </a:t>
            </a:r>
            <a:r>
              <a:rPr lang="en-US" dirty="0" err="1"/>
              <a:t>bulut</a:t>
            </a:r>
            <a:r>
              <a:rPr lang="en-US" dirty="0"/>
              <a:t> </a:t>
            </a:r>
            <a:r>
              <a:rPr lang="en-US" dirty="0" err="1"/>
              <a:t>bilişim</a:t>
            </a:r>
            <a:r>
              <a:rPr lang="en-US" dirty="0"/>
              <a:t> </a:t>
            </a:r>
            <a:r>
              <a:rPr lang="en-US" dirty="0" err="1"/>
              <a:t>platformlarında</a:t>
            </a:r>
            <a:r>
              <a:rPr lang="en-US" dirty="0"/>
              <a:t> </a:t>
            </a:r>
            <a:r>
              <a:rPr lang="en-US" dirty="0" err="1"/>
              <a:t>genellikle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komut</a:t>
            </a:r>
            <a:r>
              <a:rPr lang="en-US" dirty="0"/>
              <a:t> </a:t>
            </a:r>
            <a:r>
              <a:rPr lang="en-US" dirty="0" err="1"/>
              <a:t>dosyasını</a:t>
            </a:r>
            <a:r>
              <a:rPr lang="en-US" dirty="0"/>
              <a:t> </a:t>
            </a:r>
            <a:r>
              <a:rPr lang="en-US" dirty="0" err="1"/>
              <a:t>veya</a:t>
            </a:r>
            <a:r>
              <a:rPr lang="en-US" dirty="0"/>
              <a:t> </a:t>
            </a:r>
            <a:r>
              <a:rPr lang="en-US" dirty="0" err="1"/>
              <a:t>mikro</a:t>
            </a:r>
            <a:r>
              <a:rPr lang="en-US" dirty="0"/>
              <a:t> </a:t>
            </a:r>
            <a:r>
              <a:rPr lang="en-US" dirty="0" err="1"/>
              <a:t>hizmeti</a:t>
            </a:r>
            <a:r>
              <a:rPr lang="en-US" dirty="0"/>
              <a:t> </a:t>
            </a:r>
            <a:r>
              <a:rPr lang="en-US" dirty="0" err="1"/>
              <a:t>çalıştırmak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gereken</a:t>
            </a:r>
            <a:r>
              <a:rPr lang="en-US" dirty="0"/>
              <a:t> her </a:t>
            </a:r>
            <a:r>
              <a:rPr lang="en-US" dirty="0" err="1"/>
              <a:t>şeyi</a:t>
            </a:r>
            <a:r>
              <a:rPr lang="en-US" dirty="0"/>
              <a:t> </a:t>
            </a:r>
            <a:r>
              <a:rPr lang="en-US" dirty="0" err="1"/>
              <a:t>hızlı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şekilde</a:t>
            </a:r>
            <a:r>
              <a:rPr lang="en-US" dirty="0"/>
              <a:t> </a:t>
            </a:r>
            <a:r>
              <a:rPr lang="en-US" dirty="0" err="1"/>
              <a:t>dağıtmanın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yolu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kullanılır</a:t>
            </a:r>
            <a:r>
              <a:rPr lang="en-US" dirty="0"/>
              <a:t>.</a:t>
            </a:r>
          </a:p>
          <a:p>
            <a:br>
              <a:rPr lang="en-US" dirty="0"/>
            </a:b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3292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1861B55-02E3-BBB1-D693-E5B434E97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842005"/>
            <a:ext cx="11029616" cy="1013800"/>
          </a:xfrm>
        </p:spPr>
        <p:txBody>
          <a:bodyPr/>
          <a:lstStyle/>
          <a:p>
            <a:r>
              <a:rPr lang="en-US" dirty="0" err="1"/>
              <a:t>Konteynerlerin</a:t>
            </a:r>
            <a:r>
              <a:rPr lang="en-US" dirty="0"/>
              <a:t> </a:t>
            </a:r>
            <a:r>
              <a:rPr lang="en-US" dirty="0" err="1"/>
              <a:t>bazı</a:t>
            </a:r>
            <a:r>
              <a:rPr lang="en-US" dirty="0"/>
              <a:t> </a:t>
            </a:r>
            <a:r>
              <a:rPr lang="en-US" dirty="0" err="1"/>
              <a:t>faydaları</a:t>
            </a:r>
            <a:r>
              <a:rPr lang="en-US" dirty="0"/>
              <a:t> </a:t>
            </a:r>
            <a:r>
              <a:rPr lang="en-US" dirty="0" err="1"/>
              <a:t>şunlardır</a:t>
            </a:r>
            <a:r>
              <a:rPr lang="en-US" dirty="0"/>
              <a:t>:</a:t>
            </a:r>
            <a:br>
              <a:rPr lang="en-US" dirty="0"/>
            </a:br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0046CE4-6A61-B8DE-6A5A-068B814887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000" dirty="0" err="1">
                <a:latin typeface="Bahnschrift SemiBold" panose="020B0502040204020203" pitchFamily="34" charset="0"/>
              </a:rPr>
              <a:t>Bunlar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hafiftir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çünkü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yalnızca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çalışmaları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için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kesinlikle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gerekli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olan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ikili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dosyaları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ve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kütüphaneleri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içerirler</a:t>
            </a:r>
            <a:r>
              <a:rPr lang="en-US" sz="2000" dirty="0">
                <a:latin typeface="Bahnschrift SemiBold" panose="020B0502040204020203" pitchFamily="34" charset="0"/>
              </a:rPr>
              <a:t>.</a:t>
            </a:r>
          </a:p>
          <a:p>
            <a:r>
              <a:rPr lang="en-US" sz="2000" dirty="0" err="1">
                <a:latin typeface="Bahnschrift SemiBold" panose="020B0502040204020203" pitchFamily="34" charset="0"/>
              </a:rPr>
              <a:t>Kurulumları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ve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yönetimleri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kolaydır</a:t>
            </a:r>
            <a:r>
              <a:rPr lang="en-US" sz="2000" dirty="0">
                <a:latin typeface="Bahnschrift SemiBold" panose="020B0502040204020203" pitchFamily="34" charset="0"/>
              </a:rPr>
              <a:t>.</a:t>
            </a:r>
          </a:p>
          <a:p>
            <a:r>
              <a:rPr lang="en-US" sz="2000" dirty="0" err="1">
                <a:latin typeface="Bahnschrift SemiBold" panose="020B0502040204020203" pitchFamily="34" charset="0"/>
              </a:rPr>
              <a:t>Konteynerlerin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dezavantajları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şunlardır</a:t>
            </a:r>
            <a:r>
              <a:rPr lang="en-US" sz="2000" dirty="0">
                <a:latin typeface="Bahnschrift SemiBold" panose="020B0502040204020203" pitchFamily="34" charset="0"/>
              </a:rPr>
              <a:t>:</a:t>
            </a:r>
          </a:p>
          <a:p>
            <a:r>
              <a:rPr lang="en-US" sz="2000" dirty="0" err="1">
                <a:latin typeface="Bahnschrift SemiBold" panose="020B0502040204020203" pitchFamily="34" charset="0"/>
              </a:rPr>
              <a:t>Konteynerlerde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tek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bir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sunucuda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farklı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işletim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sistemlerini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bir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arada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kullanmak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mümkün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değildir</a:t>
            </a:r>
            <a:r>
              <a:rPr lang="en-US" sz="2000" dirty="0">
                <a:latin typeface="Bahnschrift SemiBold" panose="020B0502040204020203" pitchFamily="34" charset="0"/>
              </a:rPr>
              <a:t>.</a:t>
            </a:r>
          </a:p>
          <a:p>
            <a:r>
              <a:rPr lang="en-US" sz="2000" dirty="0" err="1">
                <a:latin typeface="Bahnschrift SemiBold" panose="020B0502040204020203" pitchFamily="34" charset="0"/>
              </a:rPr>
              <a:t>Durumsuz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konteynerlerin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oluşturulması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kolaydır</a:t>
            </a:r>
            <a:r>
              <a:rPr lang="en-US" sz="2000" dirty="0">
                <a:latin typeface="Bahnschrift SemiBold" panose="020B0502040204020203" pitchFamily="34" charset="0"/>
              </a:rPr>
              <a:t>, </a:t>
            </a:r>
            <a:r>
              <a:rPr lang="en-US" sz="2000" dirty="0" err="1">
                <a:latin typeface="Bahnschrift SemiBold" panose="020B0502040204020203" pitchFamily="34" charset="0"/>
              </a:rPr>
              <a:t>ancak</a:t>
            </a:r>
            <a:r>
              <a:rPr lang="en-US" sz="2000" dirty="0">
                <a:latin typeface="Bahnschrift SemiBold" panose="020B0502040204020203" pitchFamily="34" charset="0"/>
              </a:rPr>
              <a:t> </a:t>
            </a:r>
            <a:r>
              <a:rPr lang="en-US" sz="2000" dirty="0" err="1">
                <a:latin typeface="Bahnschrift SemiBold" panose="020B0502040204020203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durumlu</a:t>
            </a:r>
            <a:r>
              <a:rPr lang="en-US" sz="2000" dirty="0">
                <a:latin typeface="Bahnschrift SemiBold" panose="020B0502040204020203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konteynerlerin</a:t>
            </a:r>
            <a:r>
              <a:rPr lang="en-US" sz="2000" dirty="0">
                <a:latin typeface="Bahnschrift SemiBold" panose="020B0502040204020203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yönetimi</a:t>
            </a:r>
            <a:r>
              <a:rPr lang="en-US" sz="2000" dirty="0">
                <a:latin typeface="Bahnschrift SemiBold" panose="020B0502040204020203" pitchFamily="34" charset="0"/>
              </a:rPr>
              <a:t> </a:t>
            </a:r>
            <a:r>
              <a:rPr lang="en-US" sz="2000" dirty="0" err="1">
                <a:latin typeface="Bahnschrift SemiBold" panose="020B0502040204020203" pitchFamily="34" charset="0"/>
              </a:rPr>
              <a:t>daha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fazla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planlama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gerektirir</a:t>
            </a:r>
            <a:r>
              <a:rPr lang="en-US" sz="2000" dirty="0">
                <a:latin typeface="Bahnschrift SemiBold" panose="020B0502040204020203" pitchFamily="34" charset="0"/>
              </a:rPr>
              <a:t>.</a:t>
            </a:r>
          </a:p>
          <a:p>
            <a:r>
              <a:rPr lang="en-US" sz="2000" dirty="0" err="1">
                <a:latin typeface="Bahnschrift SemiBold" panose="020B0502040204020203" pitchFamily="34" charset="0"/>
              </a:rPr>
              <a:t>Konteynerler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tamamen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izole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edilmedikleri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için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genellikle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sanal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makinelerden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daha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az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güvenli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kabul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edilirler</a:t>
            </a:r>
            <a:r>
              <a:rPr lang="en-US" sz="2000" dirty="0">
                <a:latin typeface="Bahnschrift SemiBold" panose="020B0502040204020203" pitchFamily="34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96618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6FAB709-4E3D-875A-F540-F8151A1A2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999201"/>
            <a:ext cx="11029616" cy="1013800"/>
          </a:xfrm>
        </p:spPr>
        <p:txBody>
          <a:bodyPr>
            <a:normAutofit fontScale="90000"/>
          </a:bodyPr>
          <a:lstStyle/>
          <a:p>
            <a:r>
              <a:rPr lang="en-US" b="1" dirty="0" err="1"/>
              <a:t>Konteynerler</a:t>
            </a:r>
            <a:r>
              <a:rPr lang="en-US" b="1" dirty="0"/>
              <a:t> mi </a:t>
            </a:r>
            <a:r>
              <a:rPr lang="en-US" b="1" dirty="0" err="1"/>
              <a:t>yoksa</a:t>
            </a:r>
            <a:r>
              <a:rPr lang="en-US" b="1" dirty="0"/>
              <a:t> </a:t>
            </a:r>
            <a:r>
              <a:rPr lang="en-US" b="1" dirty="0" err="1"/>
              <a:t>sanal</a:t>
            </a:r>
            <a:r>
              <a:rPr lang="en-US" b="1" dirty="0"/>
              <a:t> </a:t>
            </a:r>
            <a:r>
              <a:rPr lang="en-US" b="1" dirty="0" err="1"/>
              <a:t>makineler</a:t>
            </a:r>
            <a:r>
              <a:rPr lang="en-US" b="1" dirty="0"/>
              <a:t> mi </a:t>
            </a:r>
            <a:r>
              <a:rPr lang="en-US" b="1" dirty="0" err="1"/>
              <a:t>tercih</a:t>
            </a:r>
            <a:r>
              <a:rPr lang="en-US" b="1" dirty="0"/>
              <a:t> </a:t>
            </a:r>
            <a:r>
              <a:rPr lang="en-US" b="1" dirty="0" err="1"/>
              <a:t>edilmeli</a:t>
            </a:r>
            <a:r>
              <a:rPr lang="en-US" b="1" dirty="0"/>
              <a:t>?</a:t>
            </a:r>
            <a:br>
              <a:rPr lang="en-US" dirty="0"/>
            </a:br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02776AC-731C-79AD-CC4D-E411F4C735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Bahnschrift SemiBold" panose="020B0502040204020203" pitchFamily="34" charset="0"/>
              </a:rPr>
              <a:t>Genel </a:t>
            </a:r>
            <a:r>
              <a:rPr lang="en-US" sz="2000" dirty="0" err="1">
                <a:latin typeface="Bahnschrift SemiBold" panose="020B0502040204020203" pitchFamily="34" charset="0"/>
              </a:rPr>
              <a:t>olarak</a:t>
            </a:r>
            <a:r>
              <a:rPr lang="en-US" sz="2000" dirty="0">
                <a:latin typeface="Bahnschrift SemiBold" panose="020B0502040204020203" pitchFamily="34" charset="0"/>
              </a:rPr>
              <a:t>, </a:t>
            </a:r>
            <a:r>
              <a:rPr lang="en-US" sz="2000" dirty="0" err="1">
                <a:latin typeface="Bahnschrift SemiBold" panose="020B0502040204020203" pitchFamily="34" charset="0"/>
              </a:rPr>
              <a:t>tek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bir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makinede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birden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fazla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işletim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sistemi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çalıştırmanız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gerekiyorsa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veya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yedekleme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amacıyla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makinenin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farklı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durumlarının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anlık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görüntülerini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alabilmeniz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gerekiyorsa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sanal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makineler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kullanmak</a:t>
            </a:r>
            <a:r>
              <a:rPr lang="en-US" sz="2000" dirty="0">
                <a:latin typeface="Bahnschrift SemiBold" panose="020B0502040204020203" pitchFamily="34" charset="0"/>
              </a:rPr>
              <a:t> iyi </a:t>
            </a:r>
            <a:r>
              <a:rPr lang="en-US" sz="2000" dirty="0" err="1">
                <a:latin typeface="Bahnschrift SemiBold" panose="020B0502040204020203" pitchFamily="34" charset="0"/>
              </a:rPr>
              <a:t>bir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fikirdir</a:t>
            </a:r>
            <a:r>
              <a:rPr lang="en-US" sz="2000" dirty="0">
                <a:latin typeface="Bahnschrift SemiBold" panose="020B0502040204020203" pitchFamily="34" charset="0"/>
              </a:rPr>
              <a:t>. </a:t>
            </a:r>
            <a:r>
              <a:rPr lang="en-US" sz="2000" dirty="0" err="1">
                <a:latin typeface="Bahnschrift SemiBold" panose="020B0502040204020203" pitchFamily="34" charset="0"/>
              </a:rPr>
              <a:t>Kullanıma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hazır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sanal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makineler</a:t>
            </a:r>
            <a:r>
              <a:rPr lang="en-US" sz="2000" dirty="0">
                <a:latin typeface="Bahnschrift SemiBold" panose="020B0502040204020203" pitchFamily="34" charset="0"/>
              </a:rPr>
              <a:t>, </a:t>
            </a:r>
            <a:r>
              <a:rPr lang="en-US" sz="2000" dirty="0" err="1">
                <a:latin typeface="Bahnschrift SemiBold" panose="020B0502040204020203" pitchFamily="34" charset="0"/>
              </a:rPr>
              <a:t>işletim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sisteminizi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ölçeklendirmeyi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kolaylaştırır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ve</a:t>
            </a:r>
            <a:r>
              <a:rPr lang="en-US" sz="2000" dirty="0">
                <a:latin typeface="Bahnschrift SemiBold" panose="020B0502040204020203" pitchFamily="34" charset="0"/>
              </a:rPr>
              <a:t> </a:t>
            </a:r>
            <a:r>
              <a:rPr lang="en-US" sz="2000" dirty="0" err="1">
                <a:latin typeface="Bahnschrift SemiBold" panose="020B0502040204020203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felaket</a:t>
            </a:r>
            <a:r>
              <a:rPr lang="en-US" sz="2000" dirty="0">
                <a:latin typeface="Bahnschrift SemiBold" panose="020B0502040204020203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kurtarma</a:t>
            </a:r>
            <a:r>
              <a:rPr lang="en-US" sz="2000" dirty="0">
                <a:latin typeface="Bahnschrift SemiBold" panose="020B0502040204020203" pitchFamily="34" charset="0"/>
              </a:rPr>
              <a:t> </a:t>
            </a:r>
            <a:r>
              <a:rPr lang="en-US" sz="2000" dirty="0" err="1">
                <a:latin typeface="Bahnschrift SemiBold" panose="020B0502040204020203" pitchFamily="34" charset="0"/>
              </a:rPr>
              <a:t>açısından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faydalı</a:t>
            </a:r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olabilir</a:t>
            </a:r>
            <a:r>
              <a:rPr lang="en-US" sz="2000" dirty="0">
                <a:latin typeface="Bahnschrift SemiBold" panose="020B0502040204020203" pitchFamily="34" charset="0"/>
              </a:rPr>
              <a:t>.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56170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457234B-0A5C-39B0-130A-D9F36DCA3D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002" y="570156"/>
            <a:ext cx="11008379" cy="910281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accent1">
                    <a:lumMod val="75000"/>
                    <a:lumOff val="25000"/>
                  </a:schemeClr>
                </a:solidFill>
                <a:latin typeface="Cooper Black" panose="0208090404030B020404" pitchFamily="18" charset="0"/>
              </a:rPr>
              <a:t>RAM TESTI</a:t>
            </a: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AE9BD10A-EBF6-B9AB-76A6-2751516DD4BA}"/>
              </a:ext>
            </a:extLst>
          </p:cNvPr>
          <p:cNvSpPr txBox="1"/>
          <p:nvPr/>
        </p:nvSpPr>
        <p:spPr>
          <a:xfrm>
            <a:off x="0" y="2336393"/>
            <a:ext cx="3462482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sz="2000" dirty="0" err="1"/>
              <a:t>Kurulumu</a:t>
            </a:r>
            <a:r>
              <a:rPr lang="en-US" sz="2000" dirty="0"/>
              <a:t> </a:t>
            </a:r>
            <a:r>
              <a:rPr lang="en-US" sz="2000" dirty="0" err="1"/>
              <a:t>tamamlayip</a:t>
            </a:r>
            <a:r>
              <a:rPr lang="en-US" sz="2000" dirty="0"/>
              <a:t> </a:t>
            </a:r>
            <a:r>
              <a:rPr lang="en-US" sz="2000" dirty="0" err="1"/>
              <a:t>paketleri</a:t>
            </a:r>
            <a:r>
              <a:rPr lang="en-US" sz="2000" dirty="0"/>
              <a:t> </a:t>
            </a:r>
            <a:r>
              <a:rPr lang="en-US" sz="2000" dirty="0" err="1"/>
              <a:t>terminale</a:t>
            </a:r>
            <a:r>
              <a:rPr lang="en-US" sz="2000" dirty="0"/>
              <a:t> </a:t>
            </a:r>
            <a:r>
              <a:rPr lang="en-US" sz="2000" dirty="0" err="1"/>
              <a:t>yukledikten</a:t>
            </a:r>
            <a:r>
              <a:rPr lang="en-US" sz="2000" dirty="0"/>
              <a:t> </a:t>
            </a:r>
            <a:r>
              <a:rPr lang="en-US" sz="2000" dirty="0" err="1"/>
              <a:t>sonra</a:t>
            </a:r>
            <a:r>
              <a:rPr lang="en-US" sz="2000" dirty="0"/>
              <a:t> terminal(uc </a:t>
            </a:r>
            <a:r>
              <a:rPr lang="en-US" sz="2000" dirty="0" err="1"/>
              <a:t>birim</a:t>
            </a:r>
            <a:r>
              <a:rPr lang="en-US" sz="2000" dirty="0"/>
              <a:t>) </a:t>
            </a:r>
            <a:r>
              <a:rPr lang="en-US" sz="2000" dirty="0" err="1"/>
              <a:t>ekranindan</a:t>
            </a:r>
            <a:r>
              <a:rPr lang="en-US" sz="2000" dirty="0"/>
              <a:t> test </a:t>
            </a:r>
            <a:r>
              <a:rPr lang="en-US" sz="2000" dirty="0" err="1"/>
              <a:t>kodlarimizi</a:t>
            </a:r>
            <a:r>
              <a:rPr lang="en-US" sz="2000" dirty="0"/>
              <a:t> </a:t>
            </a:r>
            <a:r>
              <a:rPr lang="en-US" sz="2000" dirty="0" err="1"/>
              <a:t>yazmaya</a:t>
            </a:r>
            <a:r>
              <a:rPr lang="en-US" sz="2000" dirty="0"/>
              <a:t> </a:t>
            </a:r>
            <a:r>
              <a:rPr lang="en-US" sz="2000" dirty="0" err="1"/>
              <a:t>basladik</a:t>
            </a:r>
            <a:r>
              <a:rPr lang="en-US" sz="2000" dirty="0"/>
              <a:t>.</a:t>
            </a:r>
          </a:p>
          <a:p>
            <a:endParaRPr lang="en-US" dirty="0"/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A0A1E1A5-1A94-53C8-3C58-2016A8A8C8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1874" y="3714017"/>
            <a:ext cx="8880125" cy="1079084"/>
          </a:xfrm>
          <a:prstGeom prst="rect">
            <a:avLst/>
          </a:prstGeom>
        </p:spPr>
      </p:pic>
      <p:pic>
        <p:nvPicPr>
          <p:cNvPr id="9" name="Resim 8">
            <a:extLst>
              <a:ext uri="{FF2B5EF4-FFF2-40B4-BE49-F238E27FC236}">
                <a16:creationId xmlns:a16="http://schemas.microsoft.com/office/drawing/2014/main" id="{845602CD-E26F-0193-7564-0D927252EA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0701" y="4744688"/>
            <a:ext cx="5461299" cy="2113311"/>
          </a:xfrm>
          <a:prstGeom prst="rect">
            <a:avLst/>
          </a:prstGeom>
        </p:spPr>
      </p:pic>
      <p:sp>
        <p:nvSpPr>
          <p:cNvPr id="10" name="Metin kutusu 9">
            <a:extLst>
              <a:ext uri="{FF2B5EF4-FFF2-40B4-BE49-F238E27FC236}">
                <a16:creationId xmlns:a16="http://schemas.microsoft.com/office/drawing/2014/main" id="{165E5AE1-0E13-DD3E-A331-1D5D8C766605}"/>
              </a:ext>
            </a:extLst>
          </p:cNvPr>
          <p:cNvSpPr txBox="1"/>
          <p:nvPr/>
        </p:nvSpPr>
        <p:spPr>
          <a:xfrm>
            <a:off x="214413" y="1673897"/>
            <a:ext cx="28830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sysbench</a:t>
            </a:r>
            <a:r>
              <a:rPr lang="en-US" dirty="0"/>
              <a:t> memory --memory-total-size=5G run</a:t>
            </a:r>
          </a:p>
          <a:p>
            <a:endParaRPr lang="en-US" dirty="0"/>
          </a:p>
        </p:txBody>
      </p:sp>
      <p:pic>
        <p:nvPicPr>
          <p:cNvPr id="12" name="Resim 11">
            <a:extLst>
              <a:ext uri="{FF2B5EF4-FFF2-40B4-BE49-F238E27FC236}">
                <a16:creationId xmlns:a16="http://schemas.microsoft.com/office/drawing/2014/main" id="{ECC07FBB-84DC-3C58-420A-C4AB42A3F6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58" r="34374"/>
          <a:stretch>
            <a:fillRect/>
          </a:stretch>
        </p:blipFill>
        <p:spPr>
          <a:xfrm>
            <a:off x="3311875" y="0"/>
            <a:ext cx="5301181" cy="3756272"/>
          </a:xfrm>
          <a:prstGeom prst="rect">
            <a:avLst/>
          </a:prstGeom>
        </p:spPr>
      </p:pic>
      <p:pic>
        <p:nvPicPr>
          <p:cNvPr id="14" name="Resim 13">
            <a:extLst>
              <a:ext uri="{FF2B5EF4-FFF2-40B4-BE49-F238E27FC236}">
                <a16:creationId xmlns:a16="http://schemas.microsoft.com/office/drawing/2014/main" id="{A2F92CED-0424-2C27-4A48-3E229F5E71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10697" r="49194" b="4757"/>
          <a:stretch>
            <a:fillRect/>
          </a:stretch>
        </p:blipFill>
        <p:spPr>
          <a:xfrm>
            <a:off x="8087975" y="0"/>
            <a:ext cx="4104026" cy="3756272"/>
          </a:xfrm>
          <a:prstGeom prst="rect">
            <a:avLst/>
          </a:prstGeom>
        </p:spPr>
      </p:pic>
      <p:pic>
        <p:nvPicPr>
          <p:cNvPr id="16" name="Resim 15">
            <a:extLst>
              <a:ext uri="{FF2B5EF4-FFF2-40B4-BE49-F238E27FC236}">
                <a16:creationId xmlns:a16="http://schemas.microsoft.com/office/drawing/2014/main" id="{45163E5C-CCD4-1C3F-DF85-833586E30C2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77483"/>
            <a:ext cx="6766560" cy="2180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270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5FC434C-6ADC-20B0-D29E-69481C9498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675" y="106805"/>
            <a:ext cx="11029615" cy="1248504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accent1">
                    <a:lumMod val="75000"/>
                    <a:lumOff val="25000"/>
                  </a:schemeClr>
                </a:solidFill>
                <a:latin typeface="Cooper Black" panose="0208090404030B020404" pitchFamily="18" charset="0"/>
              </a:rPr>
              <a:t>CPU TESTI</a:t>
            </a:r>
          </a:p>
        </p:txBody>
      </p:sp>
      <p:pic>
        <p:nvPicPr>
          <p:cNvPr id="14" name="Resim 13">
            <a:extLst>
              <a:ext uri="{FF2B5EF4-FFF2-40B4-BE49-F238E27FC236}">
                <a16:creationId xmlns:a16="http://schemas.microsoft.com/office/drawing/2014/main" id="{20D74B27-9058-1FB1-2A15-36C2F33628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972"/>
          <a:stretch>
            <a:fillRect/>
          </a:stretch>
        </p:blipFill>
        <p:spPr>
          <a:xfrm>
            <a:off x="5868675" y="0"/>
            <a:ext cx="6323325" cy="6858000"/>
          </a:xfrm>
          <a:prstGeom prst="rect">
            <a:avLst/>
          </a:prstGeom>
        </p:spPr>
      </p:pic>
      <p:sp>
        <p:nvSpPr>
          <p:cNvPr id="15" name="Metin kutusu 14">
            <a:extLst>
              <a:ext uri="{FF2B5EF4-FFF2-40B4-BE49-F238E27FC236}">
                <a16:creationId xmlns:a16="http://schemas.microsoft.com/office/drawing/2014/main" id="{2EEE54CA-9697-CFF8-C225-DEF9CF0343AF}"/>
              </a:ext>
            </a:extLst>
          </p:cNvPr>
          <p:cNvSpPr txBox="1"/>
          <p:nvPr/>
        </p:nvSpPr>
        <p:spPr>
          <a:xfrm>
            <a:off x="204674" y="1254700"/>
            <a:ext cx="41488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bash</a:t>
            </a:r>
          </a:p>
          <a:p>
            <a:r>
              <a:rPr lang="en-US" dirty="0" err="1"/>
              <a:t>sysbench</a:t>
            </a:r>
            <a:r>
              <a:rPr lang="en-US" dirty="0"/>
              <a:t> </a:t>
            </a:r>
            <a:r>
              <a:rPr lang="en-US" dirty="0" err="1"/>
              <a:t>cpu</a:t>
            </a:r>
            <a:r>
              <a:rPr lang="en-US" dirty="0"/>
              <a:t> --</a:t>
            </a:r>
            <a:r>
              <a:rPr lang="en-US" dirty="0" err="1"/>
              <a:t>cpu</a:t>
            </a:r>
            <a:r>
              <a:rPr lang="en-US" dirty="0"/>
              <a:t>-max-prime=20000 run</a:t>
            </a:r>
          </a:p>
          <a:p>
            <a:endParaRPr lang="en-US" dirty="0"/>
          </a:p>
        </p:txBody>
      </p:sp>
      <p:pic>
        <p:nvPicPr>
          <p:cNvPr id="17" name="Resim 16">
            <a:extLst>
              <a:ext uri="{FF2B5EF4-FFF2-40B4-BE49-F238E27FC236}">
                <a16:creationId xmlns:a16="http://schemas.microsoft.com/office/drawing/2014/main" id="{4E4B5A8E-5FC0-7A21-79DB-A3DD027B71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077420"/>
            <a:ext cx="5868675" cy="2385121"/>
          </a:xfrm>
          <a:prstGeom prst="rect">
            <a:avLst/>
          </a:prstGeom>
        </p:spPr>
      </p:pic>
      <p:pic>
        <p:nvPicPr>
          <p:cNvPr id="19" name="Resim 18">
            <a:extLst>
              <a:ext uri="{FF2B5EF4-FFF2-40B4-BE49-F238E27FC236}">
                <a16:creationId xmlns:a16="http://schemas.microsoft.com/office/drawing/2014/main" id="{D3A55A37-D94F-C35A-D254-E05EF8E01E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841" b="9470"/>
          <a:stretch>
            <a:fillRect/>
          </a:stretch>
        </p:blipFill>
        <p:spPr>
          <a:xfrm>
            <a:off x="0" y="4621560"/>
            <a:ext cx="5868675" cy="1131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9181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A59ACBD-8922-6A4E-763C-A965B51AD7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827" y="373959"/>
            <a:ext cx="11029615" cy="14986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solidFill>
                  <a:schemeClr val="accent1">
                    <a:lumMod val="75000"/>
                    <a:lumOff val="25000"/>
                  </a:schemeClr>
                </a:solidFill>
                <a:latin typeface="Cooper Black" panose="0208090404030B020404" pitchFamily="18" charset="0"/>
              </a:rPr>
              <a:t>DISK TESTI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5195B879-296A-14BB-B501-9E90B25837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62" r="11672" b="-1"/>
          <a:stretch>
            <a:fillRect/>
          </a:stretch>
        </p:blipFill>
        <p:spPr>
          <a:xfrm>
            <a:off x="5445645" y="18826"/>
            <a:ext cx="6746355" cy="6839174"/>
          </a:xfrm>
          <a:prstGeom prst="rect">
            <a:avLst/>
          </a:prstGeom>
        </p:spPr>
      </p:pic>
      <p:pic>
        <p:nvPicPr>
          <p:cNvPr id="11" name="Resim 10">
            <a:extLst>
              <a:ext uri="{FF2B5EF4-FFF2-40B4-BE49-F238E27FC236}">
                <a16:creationId xmlns:a16="http://schemas.microsoft.com/office/drawing/2014/main" id="{900308EB-B343-83E1-B154-CDC8D8F562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08162"/>
            <a:ext cx="5445645" cy="3614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4261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ikdörtgen: Çapraz Köşeleri Yuvarlatılmış 14">
            <a:extLst>
              <a:ext uri="{FF2B5EF4-FFF2-40B4-BE49-F238E27FC236}">
                <a16:creationId xmlns:a16="http://schemas.microsoft.com/office/drawing/2014/main" id="{6C5C7864-F4E9-D627-A78B-BF066942E41C}"/>
              </a:ext>
            </a:extLst>
          </p:cNvPr>
          <p:cNvSpPr/>
          <p:nvPr/>
        </p:nvSpPr>
        <p:spPr>
          <a:xfrm>
            <a:off x="1692537" y="1742145"/>
            <a:ext cx="1355463" cy="526356"/>
          </a:xfrm>
          <a:prstGeom prst="round2DiagRect">
            <a:avLst/>
          </a:prstGeom>
          <a:solidFill>
            <a:schemeClr val="accent1">
              <a:lumMod val="25000"/>
              <a:lumOff val="75000"/>
            </a:schemeClr>
          </a:solidFill>
          <a:ln>
            <a:solidFill>
              <a:schemeClr val="accent1">
                <a:lumMod val="50000"/>
                <a:lumOff val="50000"/>
              </a:schemeClr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EC404FA-1003-A866-3019-07F41EEF8E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799" y="158059"/>
            <a:ext cx="11029615" cy="1638469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accent1">
                    <a:lumMod val="75000"/>
                    <a:lumOff val="25000"/>
                  </a:schemeClr>
                </a:solidFill>
                <a:latin typeface="Cooper Black" panose="0208090404030B020404" pitchFamily="18" charset="0"/>
              </a:rPr>
              <a:t>A</a:t>
            </a:r>
            <a:r>
              <a:rPr lang="en-US" sz="32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Cooper Black" panose="0208090404030B020404" pitchFamily="18" charset="0"/>
              </a:rPr>
              <a:t>Ğ</a:t>
            </a:r>
            <a:r>
              <a:rPr lang="en-US" sz="3200" dirty="0">
                <a:solidFill>
                  <a:schemeClr val="accent1">
                    <a:lumMod val="75000"/>
                    <a:lumOff val="25000"/>
                  </a:schemeClr>
                </a:solidFill>
                <a:latin typeface="Cooper Black" panose="0208090404030B020404" pitchFamily="18" charset="0"/>
              </a:rPr>
              <a:t> TESTI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A3480125-50D6-92E8-E7AB-81D65C1638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86" r="10638"/>
          <a:stretch>
            <a:fillRect/>
          </a:stretch>
        </p:blipFill>
        <p:spPr>
          <a:xfrm>
            <a:off x="5989936" y="0"/>
            <a:ext cx="6221506" cy="6857999"/>
          </a:xfrm>
          <a:prstGeom prst="rect">
            <a:avLst/>
          </a:prstGeom>
        </p:spPr>
      </p:pic>
      <p:cxnSp>
        <p:nvCxnSpPr>
          <p:cNvPr id="9" name="Bağlayıcı: Eğri 8">
            <a:extLst>
              <a:ext uri="{FF2B5EF4-FFF2-40B4-BE49-F238E27FC236}">
                <a16:creationId xmlns:a16="http://schemas.microsoft.com/office/drawing/2014/main" id="{654A82DC-1507-61CD-EEB1-83700AD722FB}"/>
              </a:ext>
            </a:extLst>
          </p:cNvPr>
          <p:cNvCxnSpPr>
            <a:cxnSpLocks/>
          </p:cNvCxnSpPr>
          <p:nvPr/>
        </p:nvCxnSpPr>
        <p:spPr>
          <a:xfrm rot="10800000" flipV="1">
            <a:off x="731800" y="1964111"/>
            <a:ext cx="860332" cy="608780"/>
          </a:xfrm>
          <a:prstGeom prst="curvedConnector3">
            <a:avLst>
              <a:gd name="adj1" fmla="val 50000"/>
            </a:avLst>
          </a:prstGeom>
          <a:ln>
            <a:solidFill>
              <a:schemeClr val="accent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2BB9C4C9-4EC1-6550-C86B-C26564538C12}"/>
              </a:ext>
            </a:extLst>
          </p:cNvPr>
          <p:cNvSpPr txBox="1"/>
          <p:nvPr/>
        </p:nvSpPr>
        <p:spPr>
          <a:xfrm>
            <a:off x="1760668" y="1820657"/>
            <a:ext cx="1355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roadway" panose="04040905080B02020502" pitchFamily="82" charset="0"/>
              </a:rPr>
              <a:t>DOCKER</a:t>
            </a:r>
          </a:p>
        </p:txBody>
      </p:sp>
      <p:sp>
        <p:nvSpPr>
          <p:cNvPr id="16" name="Dikdörtgen: Çapraz Köşeleri Yuvarlatılmış 15">
            <a:extLst>
              <a:ext uri="{FF2B5EF4-FFF2-40B4-BE49-F238E27FC236}">
                <a16:creationId xmlns:a16="http://schemas.microsoft.com/office/drawing/2014/main" id="{9D29705F-B870-89DC-CD30-30322ADA7BE6}"/>
              </a:ext>
            </a:extLst>
          </p:cNvPr>
          <p:cNvSpPr/>
          <p:nvPr/>
        </p:nvSpPr>
        <p:spPr>
          <a:xfrm>
            <a:off x="4081253" y="946364"/>
            <a:ext cx="1862865" cy="526356"/>
          </a:xfrm>
          <a:prstGeom prst="round2DiagRect">
            <a:avLst/>
          </a:prstGeom>
          <a:solidFill>
            <a:schemeClr val="accent1">
              <a:lumMod val="25000"/>
              <a:lumOff val="75000"/>
            </a:schemeClr>
          </a:solidFill>
          <a:ln>
            <a:solidFill>
              <a:schemeClr val="accent1">
                <a:lumMod val="50000"/>
                <a:lumOff val="50000"/>
              </a:schemeClr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Broadway" panose="04040905080B02020502" pitchFamily="82" charset="0"/>
              </a:rPr>
              <a:t>ORACLE VIRTUALBOX</a:t>
            </a:r>
          </a:p>
        </p:txBody>
      </p:sp>
      <p:cxnSp>
        <p:nvCxnSpPr>
          <p:cNvPr id="17" name="Bağlayıcı: Eğri 16">
            <a:extLst>
              <a:ext uri="{FF2B5EF4-FFF2-40B4-BE49-F238E27FC236}">
                <a16:creationId xmlns:a16="http://schemas.microsoft.com/office/drawing/2014/main" id="{21A47F56-27A2-FF66-FE62-97150F4EFF9E}"/>
              </a:ext>
            </a:extLst>
          </p:cNvPr>
          <p:cNvCxnSpPr>
            <a:cxnSpLocks/>
          </p:cNvCxnSpPr>
          <p:nvPr/>
        </p:nvCxnSpPr>
        <p:spPr>
          <a:xfrm>
            <a:off x="4960310" y="1577682"/>
            <a:ext cx="831926" cy="730572"/>
          </a:xfrm>
          <a:prstGeom prst="curvedConnector3">
            <a:avLst>
              <a:gd name="adj1" fmla="val 50000"/>
            </a:avLst>
          </a:prstGeom>
          <a:ln>
            <a:solidFill>
              <a:schemeClr val="accent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Metin kutusu 21">
            <a:extLst>
              <a:ext uri="{FF2B5EF4-FFF2-40B4-BE49-F238E27FC236}">
                <a16:creationId xmlns:a16="http://schemas.microsoft.com/office/drawing/2014/main" id="{A37EBD8F-B6C4-7828-9B8F-F0398BE10D71}"/>
              </a:ext>
            </a:extLst>
          </p:cNvPr>
          <p:cNvSpPr txBox="1"/>
          <p:nvPr/>
        </p:nvSpPr>
        <p:spPr>
          <a:xfrm>
            <a:off x="4016187" y="1635267"/>
            <a:ext cx="16351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bash</a:t>
            </a:r>
          </a:p>
          <a:p>
            <a:r>
              <a:rPr lang="en-US" dirty="0"/>
              <a:t>iperf3 -s</a:t>
            </a:r>
          </a:p>
        </p:txBody>
      </p:sp>
      <p:pic>
        <p:nvPicPr>
          <p:cNvPr id="24" name="Resim 23">
            <a:extLst>
              <a:ext uri="{FF2B5EF4-FFF2-40B4-BE49-F238E27FC236}">
                <a16:creationId xmlns:a16="http://schemas.microsoft.com/office/drawing/2014/main" id="{3807DE3F-C051-A5E6-C1AB-177ADEDBDD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35762"/>
            <a:ext cx="6096000" cy="2779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3421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0E2BE75-170D-CC42-1EBE-6CF66424E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846547"/>
            <a:ext cx="11029615" cy="10138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solidFill>
                  <a:schemeClr val="accent1">
                    <a:lumMod val="75000"/>
                    <a:lumOff val="25000"/>
                  </a:schemeClr>
                </a:solidFill>
                <a:latin typeface="Cooper Black" panose="0208090404030B020404" pitchFamily="18" charset="0"/>
              </a:rPr>
              <a:t>BA</a:t>
            </a:r>
            <a:r>
              <a:rPr lang="en-US" sz="32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Cooper Black" panose="0208090404030B020404" pitchFamily="18" charset="0"/>
              </a:rPr>
              <a:t>Ş</a:t>
            </a:r>
            <a:r>
              <a:rPr lang="en-US" sz="3200" dirty="0">
                <a:solidFill>
                  <a:schemeClr val="accent1">
                    <a:lumMod val="75000"/>
                    <a:lumOff val="25000"/>
                  </a:schemeClr>
                </a:solidFill>
                <a:latin typeface="Cooper Black" panose="0208090404030B020404" pitchFamily="18" charset="0"/>
              </a:rPr>
              <a:t>LATMA SÜRESI (BOOT TIME) TESTI</a:t>
            </a:r>
          </a:p>
          <a:p>
            <a:pPr marL="0" indent="0">
              <a:buNone/>
            </a:pPr>
            <a:endParaRPr lang="en-US" sz="3200" dirty="0">
              <a:solidFill>
                <a:schemeClr val="accent1">
                  <a:lumMod val="75000"/>
                  <a:lumOff val="25000"/>
                </a:schemeClr>
              </a:solidFill>
              <a:latin typeface="Cooper Black" panose="0208090404030B020404" pitchFamily="18" charset="0"/>
            </a:endParaRP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6A2225FF-2100-4DFC-AF99-BDAE79F356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4148" y="5386218"/>
            <a:ext cx="6182701" cy="1013801"/>
          </a:xfrm>
          <a:prstGeom prst="rect">
            <a:avLst/>
          </a:prstGeom>
        </p:spPr>
      </p:pic>
      <p:sp>
        <p:nvSpPr>
          <p:cNvPr id="6" name="Metin kutusu 5">
            <a:extLst>
              <a:ext uri="{FF2B5EF4-FFF2-40B4-BE49-F238E27FC236}">
                <a16:creationId xmlns:a16="http://schemas.microsoft.com/office/drawing/2014/main" id="{1CAD02B3-583F-BE0F-A63D-6010CF6E456E}"/>
              </a:ext>
            </a:extLst>
          </p:cNvPr>
          <p:cNvSpPr txBox="1"/>
          <p:nvPr/>
        </p:nvSpPr>
        <p:spPr>
          <a:xfrm>
            <a:off x="795151" y="2261884"/>
            <a:ext cx="280746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bash</a:t>
            </a:r>
          </a:p>
          <a:p>
            <a:r>
              <a:rPr lang="en-US" sz="2200" dirty="0" err="1"/>
              <a:t>systemd</a:t>
            </a:r>
            <a:r>
              <a:rPr lang="en-US" sz="2200" dirty="0"/>
              <a:t>-analyze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2266E095-DD42-0927-DE03-C87346D68E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19" r="35252" b="37313"/>
          <a:stretch>
            <a:fillRect/>
          </a:stretch>
        </p:blipFill>
        <p:spPr>
          <a:xfrm>
            <a:off x="5214148" y="1547700"/>
            <a:ext cx="6182701" cy="3762600"/>
          </a:xfrm>
          <a:prstGeom prst="rect">
            <a:avLst/>
          </a:prstGeom>
        </p:spPr>
      </p:pic>
      <p:pic>
        <p:nvPicPr>
          <p:cNvPr id="10" name="Resim 9">
            <a:extLst>
              <a:ext uri="{FF2B5EF4-FFF2-40B4-BE49-F238E27FC236}">
                <a16:creationId xmlns:a16="http://schemas.microsoft.com/office/drawing/2014/main" id="{0BD3FF1C-9F6B-61AC-73EA-0A93152346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87660"/>
            <a:ext cx="5214148" cy="2512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8457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İçerik Yer Tutucusu 7">
            <a:extLst>
              <a:ext uri="{FF2B5EF4-FFF2-40B4-BE49-F238E27FC236}">
                <a16:creationId xmlns:a16="http://schemas.microsoft.com/office/drawing/2014/main" id="{5E1D973A-D7EE-99F8-EFF6-9FD8B24C4F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2151" y="1247887"/>
            <a:ext cx="9947166" cy="5020367"/>
          </a:xfrm>
        </p:spPr>
      </p:pic>
      <p:sp>
        <p:nvSpPr>
          <p:cNvPr id="9" name="Metin kutusu 8">
            <a:extLst>
              <a:ext uri="{FF2B5EF4-FFF2-40B4-BE49-F238E27FC236}">
                <a16:creationId xmlns:a16="http://schemas.microsoft.com/office/drawing/2014/main" id="{524BEB32-C1CB-A073-B54B-8C16044CE0AB}"/>
              </a:ext>
            </a:extLst>
          </p:cNvPr>
          <p:cNvSpPr txBox="1"/>
          <p:nvPr/>
        </p:nvSpPr>
        <p:spPr>
          <a:xfrm>
            <a:off x="828339" y="589746"/>
            <a:ext cx="117365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1">
                    <a:lumMod val="75000"/>
                    <a:lumOff val="25000"/>
                  </a:schemeClr>
                </a:solidFill>
                <a:latin typeface="Cooper Black" panose="0208090404030B020404" pitchFamily="18" charset="0"/>
              </a:rPr>
              <a:t>SANAL MAKINE VS CONTAINER KARSILASTIRMASI</a:t>
            </a:r>
          </a:p>
        </p:txBody>
      </p:sp>
    </p:spTree>
    <p:extLst>
      <p:ext uri="{BB962C8B-B14F-4D97-AF65-F5344CB8AC3E}">
        <p14:creationId xmlns:p14="http://schemas.microsoft.com/office/powerpoint/2010/main" val="3151587403"/>
      </p:ext>
    </p:extLst>
  </p:cSld>
  <p:clrMapOvr>
    <a:masterClrMapping/>
  </p:clrMapOvr>
</p:sld>
</file>

<file path=ppt/theme/theme1.xml><?xml version="1.0" encoding="utf-8"?>
<a:theme xmlns:a="http://schemas.openxmlformats.org/drawingml/2006/main" name="Kar Payı">
  <a:themeElements>
    <a:clrScheme name="Kar Payı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Kar Payı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Kar Payı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Override1.xml><?xml version="1.0" encoding="utf-8"?>
<a:themeOverride xmlns:a="http://schemas.openxmlformats.org/drawingml/2006/main">
  <a:clrScheme name="Kar Payı">
    <a:dk1>
      <a:sysClr val="windowText" lastClr="000000"/>
    </a:dk1>
    <a:lt1>
      <a:sysClr val="window" lastClr="FFFFFF"/>
    </a:lt1>
    <a:dk2>
      <a:srgbClr val="3D3D3D"/>
    </a:dk2>
    <a:lt2>
      <a:srgbClr val="EBEBEB"/>
    </a:lt2>
    <a:accent1>
      <a:srgbClr val="4D1434"/>
    </a:accent1>
    <a:accent2>
      <a:srgbClr val="903163"/>
    </a:accent2>
    <a:accent3>
      <a:srgbClr val="B2324B"/>
    </a:accent3>
    <a:accent4>
      <a:srgbClr val="969FA7"/>
    </a:accent4>
    <a:accent5>
      <a:srgbClr val="66B1CE"/>
    </a:accent5>
    <a:accent6>
      <a:srgbClr val="40619D"/>
    </a:accent6>
    <a:hlink>
      <a:srgbClr val="828282"/>
    </a:hlink>
    <a:folHlink>
      <a:srgbClr val="A5A5A5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248</TotalTime>
  <Words>477</Words>
  <Application>Microsoft Office PowerPoint</Application>
  <PresentationFormat>Geniş ekran</PresentationFormat>
  <Paragraphs>44</Paragraphs>
  <Slides>12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12</vt:i4>
      </vt:variant>
    </vt:vector>
  </HeadingPairs>
  <TitlesOfParts>
    <vt:vector size="18" baseType="lpstr">
      <vt:lpstr>Bahnschrift SemiBold</vt:lpstr>
      <vt:lpstr>Broadway</vt:lpstr>
      <vt:lpstr>Cooper Black</vt:lpstr>
      <vt:lpstr>Gill Sans MT</vt:lpstr>
      <vt:lpstr>Wingdings 2</vt:lpstr>
      <vt:lpstr>Kar Payı</vt:lpstr>
      <vt:lpstr>Sanal makine ve containerlerin karsilastirilmasi</vt:lpstr>
      <vt:lpstr>SANAL MAKINE nedir?</vt:lpstr>
      <vt:lpstr>Sanal makine ne icin kullanilir?</vt:lpstr>
      <vt:lpstr>Konteynerler ve sanal makineler </vt:lpstr>
      <vt:lpstr>Konteynerlerin bazı faydaları şunlardır: </vt:lpstr>
      <vt:lpstr>Konteynerler mi yoksa sanal makineler mi tercih edilmeli? 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tugba kose</dc:creator>
  <cp:lastModifiedBy>tugba kose</cp:lastModifiedBy>
  <cp:revision>2</cp:revision>
  <dcterms:created xsi:type="dcterms:W3CDTF">2025-12-16T11:26:15Z</dcterms:created>
  <dcterms:modified xsi:type="dcterms:W3CDTF">2025-12-16T15:35:13Z</dcterms:modified>
</cp:coreProperties>
</file>